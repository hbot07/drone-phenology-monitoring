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0" roundtripDataSignature="AMtx7mhgyyAo3VNNY2kxREDWTi/GnZjp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2FECAA-44B8-4759-AA99-41EDA7981E56}">
  <a:tblStyle styleId="{C52FECAA-44B8-4759-AA99-41EDA7981E5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cb3e009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cb3e009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758cb9cf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758cb9cf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758cb9cf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758cb9cf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758cb9c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758cb9c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758cb9cf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758cb9cf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758cb9cf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758cb9cf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b3e0093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cb3e0093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758cb9c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758cb9c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cb3e0093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cb3e0093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758cb9cf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758cb9cf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758cb9cf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758cb9c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758cb9cf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758cb9cf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758cb9cf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758cb9cf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cb3e0093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cb3e0093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2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4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2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cb3e00936_0_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Clustering Augmented Acacia/Non Acacia Data</a:t>
            </a:r>
            <a:endParaRPr/>
          </a:p>
        </p:txBody>
      </p:sp>
      <p:sp>
        <p:nvSpPr>
          <p:cNvPr id="67" name="Google Shape;67;g3ecb3e00936_0_0"/>
          <p:cNvSpPr txBox="1"/>
          <p:nvPr>
            <p:ph idx="1" type="body"/>
          </p:nvPr>
        </p:nvSpPr>
        <p:spPr>
          <a:xfrm>
            <a:off x="3970503" y="1595775"/>
            <a:ext cx="4761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For the 108 SV crowns with known GT labels → use GT label (ground truth takes priority)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For the remaining 2,071 SV crowns → use the cluster's assigned label</a:t>
            </a:r>
            <a:endParaRPr/>
          </a:p>
        </p:txBody>
      </p:sp>
      <p:graphicFrame>
        <p:nvGraphicFramePr>
          <p:cNvPr id="68" name="Google Shape;68;g3ecb3e00936_0_0"/>
          <p:cNvGraphicFramePr/>
          <p:nvPr/>
        </p:nvGraphicFramePr>
        <p:xfrm>
          <a:off x="369200" y="212985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52526"/>
                </a:solidFill>
                <a:tableStyleId>{C52FECAA-44B8-4759-AA99-41EDA7981E56}</a:tableStyleId>
              </a:tblPr>
              <a:tblGrid>
                <a:gridCol w="1424575"/>
                <a:gridCol w="550175"/>
                <a:gridCol w="864575"/>
                <a:gridCol w="4322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CCCCCC"/>
                          </a:solidFill>
                        </a:rPr>
                        <a:t>Source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CCCCCC"/>
                          </a:solidFill>
                        </a:rPr>
                        <a:t>Acacia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CCCCCC"/>
                          </a:solidFill>
                        </a:rPr>
                        <a:t>Non-Acacia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000">
                          <a:solidFill>
                            <a:srgbClr val="CCCCCC"/>
                          </a:solidFill>
                        </a:rPr>
                        <a:t>Total</a:t>
                      </a:r>
                      <a:endParaRPr b="1"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Clustering-labeled SV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910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1,269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2,179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GT-only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63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299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>
                          <a:solidFill>
                            <a:srgbClr val="CCCCCC"/>
                          </a:solidFill>
                        </a:rPr>
                        <a:t>362</a:t>
                      </a:r>
                      <a:endParaRPr sz="1000">
                        <a:solidFill>
                          <a:srgbClr val="CCCCCC"/>
                        </a:solidFill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758cb9cf3_0_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Clustering Augmented Acacia/Non Acacia Data</a:t>
            </a:r>
            <a:endParaRPr/>
          </a:p>
        </p:txBody>
      </p:sp>
      <p:sp>
        <p:nvSpPr>
          <p:cNvPr id="74" name="Google Shape;74;g3e758cb9cf3_0_24"/>
          <p:cNvSpPr txBox="1"/>
          <p:nvPr>
            <p:ph idx="1" type="body"/>
          </p:nvPr>
        </p:nvSpPr>
        <p:spPr>
          <a:xfrm>
            <a:off x="3970503" y="1595775"/>
            <a:ext cx="4761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 108 SV crowns that have both a clustering-derived label AND a GT field label → use these to measure labeling accuracy.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Overall agreement: 89/108 = 82.4%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Non-acacia recall: 89.1% (41/46 correct)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Acacia recall: 77.4% (48/62 correct) ← weaker; 14 acacia crowns mis-labeled as non-acacia</a:t>
            </a:r>
            <a:endParaRPr/>
          </a:p>
        </p:txBody>
      </p:sp>
      <p:graphicFrame>
        <p:nvGraphicFramePr>
          <p:cNvPr id="75" name="Google Shape;75;g3e758cb9cf3_0_24"/>
          <p:cNvGraphicFramePr/>
          <p:nvPr/>
        </p:nvGraphicFramePr>
        <p:xfrm>
          <a:off x="332350" y="209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{C52FECAA-44B8-4759-AA99-41EDA7981E56}</a:tableStyleId>
              </a:tblPr>
              <a:tblGrid>
                <a:gridCol w="1333500"/>
                <a:gridCol w="1171575"/>
                <a:gridCol w="8667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Pred: non-acacia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Pred: acacia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GT: non-acacia (46)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41 ✓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5 ✗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GT: acacia (62)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14 ✗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48 ✓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758cb9cf3_0_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Clustering Augmented Acacia/Non Acacia Data</a:t>
            </a:r>
            <a:endParaRPr/>
          </a:p>
        </p:txBody>
      </p:sp>
      <p:sp>
        <p:nvSpPr>
          <p:cNvPr id="81" name="Google Shape;81;g3e758cb9cf3_0_41"/>
          <p:cNvSpPr txBox="1"/>
          <p:nvPr>
            <p:ph idx="1" type="body"/>
          </p:nvPr>
        </p:nvSpPr>
        <p:spPr>
          <a:xfrm>
            <a:off x="3970500" y="1797875"/>
            <a:ext cx="4761300" cy="28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The clustering pseudo-labels are 82.4% accurate, meaning ~17.6% are wrong labels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The model maybe learns to replicate the clustering algorithm's decision boundary, not the true acacia spectral signature</a:t>
            </a:r>
            <a:endParaRPr/>
          </a:p>
        </p:txBody>
      </p:sp>
      <p:graphicFrame>
        <p:nvGraphicFramePr>
          <p:cNvPr id="82" name="Google Shape;82;g3e758cb9cf3_0_41"/>
          <p:cNvGraphicFramePr/>
          <p:nvPr/>
        </p:nvGraphicFramePr>
        <p:xfrm>
          <a:off x="431000" y="1904071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52526"/>
                </a:solidFill>
                <a:tableStyleId>{C52FECAA-44B8-4759-AA99-41EDA7981E56}</a:tableStyleId>
              </a:tblPr>
              <a:tblGrid>
                <a:gridCol w="1030425"/>
                <a:gridCol w="993175"/>
                <a:gridCol w="806975"/>
                <a:gridCol w="58350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Regime</a:t>
                      </a:r>
                      <a:endParaRPr b="1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Model</a:t>
                      </a:r>
                      <a:endParaRPr b="1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Bal. Acc</a:t>
                      </a:r>
                      <a:endParaRPr b="1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F1</a:t>
                      </a:r>
                      <a:endParaRPr b="1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Baseline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ExtraTrees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0.701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0.707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Augmented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ExtraTrees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0.670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0.556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Augmented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RF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0.700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0.543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Baseline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RF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0.636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0.595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58cb9cf3_0_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Excluding small crowns</a:t>
            </a:r>
            <a:endParaRPr/>
          </a:p>
        </p:txBody>
      </p:sp>
      <p:sp>
        <p:nvSpPr>
          <p:cNvPr id="88" name="Google Shape;88;g3e758cb9cf3_0_0"/>
          <p:cNvSpPr txBox="1"/>
          <p:nvPr>
            <p:ph idx="1" type="body"/>
          </p:nvPr>
        </p:nvSpPr>
        <p:spPr>
          <a:xfrm>
            <a:off x="3223502" y="1595775"/>
            <a:ext cx="55083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Mean = 45.5 m², Std = 51.1 m²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Size of one pixel = 10mx10m = 100 </a:t>
            </a:r>
            <a:r>
              <a:rPr lang="en-IN"/>
              <a:t>m²</a:t>
            </a:r>
            <a:endParaRPr/>
          </a:p>
        </p:txBody>
      </p:sp>
      <p:graphicFrame>
        <p:nvGraphicFramePr>
          <p:cNvPr id="89" name="Google Shape;89;g3e758cb9cf3_0_0"/>
          <p:cNvGraphicFramePr/>
          <p:nvPr/>
        </p:nvGraphicFramePr>
        <p:xfrm>
          <a:off x="416400" y="14358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52526"/>
                </a:solidFill>
                <a:tableStyleId>{C52FECAA-44B8-4759-AA99-41EDA7981E56}</a:tableStyleId>
              </a:tblPr>
              <a:tblGrid>
                <a:gridCol w="1168225"/>
                <a:gridCol w="87020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Percentile</a:t>
                      </a:r>
                      <a:endParaRPr b="1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Area (m²)</a:t>
                      </a:r>
                      <a:endParaRPr b="1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p5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11.6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p25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18.0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p50 (median)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28.1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p75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50.8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p90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95.3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p95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138.7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p99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277.8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Max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562.1</a:t>
                      </a:r>
                      <a:endParaRPr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58cb9cf3_0_5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Excluding small crowns</a:t>
            </a:r>
            <a:endParaRPr/>
          </a:p>
        </p:txBody>
      </p:sp>
      <p:sp>
        <p:nvSpPr>
          <p:cNvPr id="95" name="Google Shape;95;g3e758cb9cf3_0_55"/>
          <p:cNvSpPr txBox="1"/>
          <p:nvPr>
            <p:ph idx="1" type="body"/>
          </p:nvPr>
        </p:nvSpPr>
        <p:spPr>
          <a:xfrm>
            <a:off x="4146499" y="1595775"/>
            <a:ext cx="45855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A1–A5 areas have larger crowns (median ~55–65 m², ~25–33% above one pixel)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Sanjay Van areas 1-3 are almost entirely sub-pixel</a:t>
            </a:r>
            <a:endParaRPr/>
          </a:p>
        </p:txBody>
      </p:sp>
      <p:graphicFrame>
        <p:nvGraphicFramePr>
          <p:cNvPr id="96" name="Google Shape;96;g3e758cb9cf3_0_55"/>
          <p:cNvGraphicFramePr/>
          <p:nvPr/>
        </p:nvGraphicFramePr>
        <p:xfrm>
          <a:off x="215750" y="13977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252526"/>
                </a:solidFill>
                <a:tableStyleId>{C52FECAA-44B8-4759-AA99-41EDA7981E56}</a:tableStyleId>
              </a:tblPr>
              <a:tblGrid>
                <a:gridCol w="572525"/>
                <a:gridCol w="755250"/>
                <a:gridCol w="1108525"/>
                <a:gridCol w="974525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Area</a:t>
                      </a:r>
                      <a:endParaRPr b="1"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Crowns</a:t>
                      </a:r>
                      <a:endParaRPr b="1"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Median (m²)</a:t>
                      </a:r>
                      <a:endParaRPr b="1"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≥ 100 m²</a:t>
                      </a:r>
                      <a:endParaRPr b="1"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A1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158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58.6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43 (27.2%)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A2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153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64.6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50 (32.7%)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A3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187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61.3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45 (24.1%)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A4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167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62.1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47 (28.1%)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A5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201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53.8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43 (21.4%)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Mittal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36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45.7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7 (19.4%)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SIT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131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44.0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28 (21.4%)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S1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656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21.8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8 (1.2%)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S2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717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21.3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5 (0.7%)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S3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628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21.6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3 (0.5%)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S4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178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41.9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>
                          <a:solidFill>
                            <a:srgbClr val="CCCCCC"/>
                          </a:solidFill>
                          <a:highlight>
                            <a:srgbClr val="252526"/>
                          </a:highlight>
                        </a:rPr>
                        <a:t>21 (11.8%)</a:t>
                      </a:r>
                      <a:endParaRPr sz="1100">
                        <a:solidFill>
                          <a:srgbClr val="CCCCCC"/>
                        </a:solidFill>
                        <a:highlight>
                          <a:srgbClr val="252526"/>
                        </a:highlight>
                      </a:endParaRPr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g3e758cb9cf3_0_72"/>
          <p:cNvGraphicFramePr/>
          <p:nvPr/>
        </p:nvGraphicFramePr>
        <p:xfrm>
          <a:off x="198200" y="105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{C52FECAA-44B8-4759-AA99-41EDA7981E56}</a:tableStyleId>
              </a:tblPr>
              <a:tblGrid>
                <a:gridCol w="1569075"/>
                <a:gridCol w="1235650"/>
                <a:gridCol w="823775"/>
                <a:gridCol w="1647525"/>
                <a:gridCol w="1157200"/>
                <a:gridCol w="1098350"/>
                <a:gridCol w="1216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Threshold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Crowns kept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% lost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Acacia (pos/total)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Yellow strict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Red showy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ESD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No filter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3,212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0%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63/362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27/355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9/355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150/229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10 m²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3,155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63/359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27/352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9/352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149/226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20 m²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2,223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31%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54/309 (-14%)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24/305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8/305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130/192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25 m²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1,789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44%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49/286 (-21%)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23/284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8/284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117/175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30 m²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1,499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53%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45/263 (-27%)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19/265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8/265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111/163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50 m²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820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74%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22/168 (-54%)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13/170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6/170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72/103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75 m²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479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85%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10/103 (-84%)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5/104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5/104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47/63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≥ 100 m² (1 pixel)</a:t>
                      </a:r>
                      <a:endParaRPr/>
                    </a:p>
                  </a:txBody>
                  <a:tcPr marT="38100" marB="38100" marR="57150" marL="57150"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300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91%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7/76 (-89%)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4/78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4/78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36/47</a:t>
                      </a:r>
                      <a:endParaRPr/>
                    </a:p>
                  </a:txBody>
                  <a:tcPr marT="38100" marB="38100" marR="57150" marL="57150">
                    <a:lnL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cb3e00936_0_10"/>
          <p:cNvSpPr txBox="1"/>
          <p:nvPr>
            <p:ph type="title"/>
          </p:nvPr>
        </p:nvSpPr>
        <p:spPr>
          <a:xfrm>
            <a:off x="2173200" y="3587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Pixel Level Classifiers</a:t>
            </a:r>
            <a:endParaRPr/>
          </a:p>
        </p:txBody>
      </p:sp>
      <p:graphicFrame>
        <p:nvGraphicFramePr>
          <p:cNvPr id="107" name="Google Shape;107;g3ecb3e00936_0_10"/>
          <p:cNvGraphicFramePr/>
          <p:nvPr/>
        </p:nvGraphicFramePr>
        <p:xfrm>
          <a:off x="231350" y="91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{C52FECAA-44B8-4759-AA99-41EDA7981E56}</a:tableStyleId>
              </a:tblPr>
              <a:tblGrid>
                <a:gridCol w="2454550"/>
                <a:gridCol w="1001850"/>
                <a:gridCol w="1001850"/>
                <a:gridCol w="1001850"/>
                <a:gridCol w="1001850"/>
                <a:gridCol w="10018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Evaluation Metric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Fold 0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Fold 1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Fold 2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Fold 3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Fold 4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Train Samples (Pixels)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896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900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860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944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880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Test Samples (Pixels)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224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220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260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176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240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Test Objects (Crowns)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42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46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45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37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lang="en-IN"/>
                        <a:t>48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Crown Accuracy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52.38%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45.65%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46.67%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51.35%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2400"/>
                        </a:spcAft>
                        <a:buNone/>
                      </a:pPr>
                      <a:r>
                        <a:rPr b="1" lang="en-IN" sz="1100"/>
                        <a:t>54.17%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4C7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g3ecb3e00936_0_10"/>
          <p:cNvSpPr txBox="1"/>
          <p:nvPr/>
        </p:nvSpPr>
        <p:spPr>
          <a:xfrm>
            <a:off x="345525" y="43833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100">
                <a:solidFill>
                  <a:schemeClr val="dk2"/>
                </a:solidFill>
              </a:rPr>
              <a:t>Mean Crown-Level Accuracy:</a:t>
            </a:r>
            <a:r>
              <a:rPr lang="en-IN" sz="1100">
                <a:solidFill>
                  <a:schemeClr val="dk2"/>
                </a:solidFill>
              </a:rPr>
              <a:t> </a:t>
            </a:r>
            <a:r>
              <a:rPr b="1" lang="en-IN" sz="1100">
                <a:solidFill>
                  <a:schemeClr val="dk2"/>
                </a:solidFill>
              </a:rPr>
              <a:t>50.04%</a:t>
            </a:r>
            <a:endParaRPr/>
          </a:p>
        </p:txBody>
      </p:sp>
      <p:sp>
        <p:nvSpPr>
          <p:cNvPr id="109" name="Google Shape;109;g3ecb3e00936_0_10"/>
          <p:cNvSpPr txBox="1"/>
          <p:nvPr/>
        </p:nvSpPr>
        <p:spPr>
          <a:xfrm>
            <a:off x="2957775" y="4367875"/>
            <a:ext cx="3990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>
                <a:solidFill>
                  <a:srgbClr val="E3E3E3"/>
                </a:solidFill>
                <a:highlight>
                  <a:srgbClr val="171717"/>
                </a:highlight>
              </a:rPr>
              <a:t>Out-of-Bag (OOB) Error Estimate: 30.80%</a:t>
            </a:r>
            <a:endParaRPr/>
          </a:p>
        </p:txBody>
      </p:sp>
      <p:sp>
        <p:nvSpPr>
          <p:cNvPr id="110" name="Google Shape;110;g3ecb3e00936_0_10"/>
          <p:cNvSpPr txBox="1"/>
          <p:nvPr/>
        </p:nvSpPr>
        <p:spPr>
          <a:xfrm>
            <a:off x="6144000" y="4325125"/>
            <a:ext cx="30000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OOB accuracy: 69.20%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758cb9cf3_0_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Jan-May Time Frame Features</a:t>
            </a:r>
            <a:endParaRPr/>
          </a:p>
        </p:txBody>
      </p:sp>
      <p:sp>
        <p:nvSpPr>
          <p:cNvPr id="116" name="Google Shape;116;g3e758cb9cf3_0_5"/>
          <p:cNvSpPr txBox="1"/>
          <p:nvPr>
            <p:ph idx="1" type="body"/>
          </p:nvPr>
        </p:nvSpPr>
        <p:spPr>
          <a:xfrm>
            <a:off x="2400262" y="1142201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Standard: winter, premonsoon, monsoon, postmonsoon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Monthly additions: jan, feb, mar, apr, may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For each season, extract median median B2, B3, B4, B8, B11, B12 and median NDVI, GNDVI, NDRE, NDMI, EVI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NDVI_amp  = max(NDVI seasonal values) - min(NDVI seasonal values)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NDRE_amp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NDMI_amp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GNDVI_amp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red_ratio_amp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green_ratio_amp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b3e00936_0_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Embeddings</a:t>
            </a:r>
            <a:endParaRPr/>
          </a:p>
        </p:txBody>
      </p:sp>
      <p:sp>
        <p:nvSpPr>
          <p:cNvPr id="122" name="Google Shape;122;g3ecb3e00936_0_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GEE Satellite Embedding V1: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2024 annual embedding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64-dimensional vector: A00 to A63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Tested two geometries: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Original crown polygon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20 m centroid buffer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758cb9cf3_0_9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Yellow Phenology Results</a:t>
            </a:r>
            <a:endParaRPr/>
          </a:p>
        </p:txBody>
      </p:sp>
      <p:sp>
        <p:nvSpPr>
          <p:cNvPr id="128" name="Google Shape;128;g3e758cb9cf3_0_9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GEE embeddings are strong.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Histogram Gradient Boosting Classifier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Random split: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GEE 20 m buffer: about 0.805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GEE original: about 0.795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Yellow strict: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GEE 20 m buffer random split: about 0.764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broader yellow label is more stable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758cb9cf3_0_1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Histogram Gradient Boosting Classifier</a:t>
            </a:r>
            <a:endParaRPr/>
          </a:p>
        </p:txBody>
      </p:sp>
      <p:sp>
        <p:nvSpPr>
          <p:cNvPr id="134" name="Google Shape;134;g3e758cb9cf3_0_13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A random forest builds many independent trees and averages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Gradient boosting builds trees sequentially, where each new tree tries to fix the mistakes of the previous trees.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Good for nonlinear patterns in tabular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Numeric feature values are grouped into bins, or “histograms”.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The model learns decision rules using these binned values.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758cb9cf3_0_10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Showy Flower Results</a:t>
            </a:r>
            <a:endParaRPr/>
          </a:p>
        </p:txBody>
      </p:sp>
      <p:sp>
        <p:nvSpPr>
          <p:cNvPr id="140" name="Google Shape;140;g3e758cb9cf3_0_102"/>
          <p:cNvSpPr txBox="1"/>
          <p:nvPr>
            <p:ph idx="1" type="body"/>
          </p:nvPr>
        </p:nvSpPr>
        <p:spPr>
          <a:xfrm>
            <a:off x="441600" y="1407825"/>
            <a:ext cx="3977100" cy="30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Histogram Gradient Boosting Classifier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GEE 20 m buffer: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Random split: about 0.631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Strong MITTAL: about 0.833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SIT: about 0.695</a:t>
            </a:r>
            <a:endParaRPr/>
          </a:p>
        </p:txBody>
      </p:sp>
      <p:sp>
        <p:nvSpPr>
          <p:cNvPr id="141" name="Google Shape;141;g3e758cb9cf3_0_102"/>
          <p:cNvSpPr txBox="1"/>
          <p:nvPr>
            <p:ph idx="1" type="body"/>
          </p:nvPr>
        </p:nvSpPr>
        <p:spPr>
          <a:xfrm>
            <a:off x="4744750" y="1211350"/>
            <a:ext cx="3977100" cy="30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GEE original: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Random split: about 0.699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Moderate holdouts: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A3: about 0.648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SIT: about 0.631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A4: about 0.619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758cb9cf3_0_11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Acacia Results</a:t>
            </a:r>
            <a:endParaRPr/>
          </a:p>
        </p:txBody>
      </p:sp>
      <p:sp>
        <p:nvSpPr>
          <p:cNvPr id="147" name="Google Shape;147;g3e758cb9cf3_0_110"/>
          <p:cNvSpPr txBox="1"/>
          <p:nvPr>
            <p:ph idx="1" type="body"/>
          </p:nvPr>
        </p:nvSpPr>
        <p:spPr>
          <a:xfrm>
            <a:off x="4736150" y="1595775"/>
            <a:ext cx="39957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rf_balanced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GEE 20 m buffer: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Random split: 0.939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Holdouts mostly around 0.65-0.78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GEE Orignal: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Accuracy: 0.924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Balanced accuracy: 0.934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/>
              <a:t>Macro F1: 0.880</a:t>
            </a:r>
            <a:endParaRPr/>
          </a:p>
        </p:txBody>
      </p:sp>
      <p:graphicFrame>
        <p:nvGraphicFramePr>
          <p:cNvPr id="148" name="Google Shape;148;g3e758cb9cf3_0_110"/>
          <p:cNvGraphicFramePr/>
          <p:nvPr/>
        </p:nvGraphicFramePr>
        <p:xfrm>
          <a:off x="206800" y="126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{C52FECAA-44B8-4759-AA99-41EDA7981E56}</a:tableStyleId>
              </a:tblPr>
              <a:tblGrid>
                <a:gridCol w="2038350"/>
                <a:gridCol w="1447800"/>
                <a:gridCol w="638175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Actual \ Predicted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76200" marB="762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Non-Acacia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76200" marB="762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76200" marB="76200" marR="91425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Non-Acacia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9525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86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9525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12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95250" marR="91425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2286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0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2286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20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228600" marR="91425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" name="Google Shape;149;g3e758cb9cf3_0_110"/>
          <p:cNvGraphicFramePr/>
          <p:nvPr/>
        </p:nvGraphicFramePr>
        <p:xfrm>
          <a:off x="342900" y="287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{C52FECAA-44B8-4759-AA99-41EDA7981E56}</a:tableStyleId>
              </a:tblPr>
              <a:tblGrid>
                <a:gridCol w="2038350"/>
                <a:gridCol w="1447800"/>
                <a:gridCol w="638175"/>
              </a:tblGrid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Actual \ Predicted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76200" marB="762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Non-Acacia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76200" marB="762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76200" marB="76200" marR="91425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Non-Acacia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9525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90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9525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8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95250" marR="91425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Acacia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2286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1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228600" marR="228600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50">
                          <a:solidFill>
                            <a:schemeClr val="dk2"/>
                          </a:solidFill>
                        </a:rPr>
                        <a:t>19</a:t>
                      </a:r>
                      <a:endParaRPr sz="1250">
                        <a:solidFill>
                          <a:schemeClr val="dk2"/>
                        </a:solidFill>
                      </a:endParaRPr>
                    </a:p>
                  </a:txBody>
                  <a:tcPr marT="95250" marB="228600" marR="91425" marL="91425">
                    <a:lnL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cb3e00936_0_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User Guides</a:t>
            </a:r>
            <a:endParaRPr/>
          </a:p>
        </p:txBody>
      </p:sp>
      <p:sp>
        <p:nvSpPr>
          <p:cNvPr id="155" name="Google Shape;155;g3ecb3e00936_0_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https://github.com/hbot07/Drone-Phenology-Monitoring/tree/main/misc/docs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01_collecting_drone_imagery.md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02_building_orthomosaic_webodm.md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03_running_detectree2.md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04_orthomosaic_printout_crown_ids.md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IN"/>
              <a:t>05_qfield_crown_annotation.md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