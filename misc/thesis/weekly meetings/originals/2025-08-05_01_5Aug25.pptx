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5" roundtripDataSignature="AMtx7mgkv7vbAcv9q+I+PNIo0FxXSkhS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2f6346d0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2f6346d0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2f6346d0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2f6346d0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2f6346d0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2f6346d0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2f6346d0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2f6346d0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2f6346d0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2f6346d0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2f6346d0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2f6346d0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2f6346d0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72f6346d0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72f6346d0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72f6346d0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2f6346d0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72f6346d0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9"/>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9"/>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9"/>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9"/>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4" name="Google Shape;14;p9"/>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 name="Shape 16"/>
        <p:cNvGrpSpPr/>
        <p:nvPr/>
      </p:nvGrpSpPr>
      <p:grpSpPr>
        <a:xfrm>
          <a:off x="0" y="0"/>
          <a:ext cx="0" cy="0"/>
          <a:chOff x="0" y="0"/>
          <a:chExt cx="0" cy="0"/>
        </a:xfrm>
      </p:grpSpPr>
      <p:sp>
        <p:nvSpPr>
          <p:cNvPr id="17" name="Google Shape;17;p1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 name="Google Shape;18;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10"/>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20" name="Google Shape;20;p10"/>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1" name="Google Shape;21;p1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22" name="Google Shape;22;p1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3" name="Shape 23"/>
        <p:cNvGrpSpPr/>
        <p:nvPr/>
      </p:nvGrpSpPr>
      <p:grpSpPr>
        <a:xfrm>
          <a:off x="0" y="0"/>
          <a:ext cx="0" cy="0"/>
          <a:chOff x="0" y="0"/>
          <a:chExt cx="0" cy="0"/>
        </a:xfrm>
      </p:grpSpPr>
      <p:cxnSp>
        <p:nvCxnSpPr>
          <p:cNvPr id="24" name="Google Shape;24;p11"/>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25" name="Google Shape;25;p11"/>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26" name="Google Shape;26;p11"/>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27" name="Google Shape;27;p1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cxnSp>
        <p:nvCxnSpPr>
          <p:cNvPr id="29" name="Google Shape;29;p12"/>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12"/>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12"/>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12"/>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2"/>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p1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3"/>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7" name="Google Shape;37;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1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0" name="Google Shape;40;p14"/>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1" name="Google Shape;41;p14"/>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2" name="Google Shape;42;p1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3" name="Shape 43"/>
        <p:cNvGrpSpPr/>
        <p:nvPr/>
      </p:nvGrpSpPr>
      <p:grpSpPr>
        <a:xfrm>
          <a:off x="0" y="0"/>
          <a:ext cx="0" cy="0"/>
          <a:chOff x="0" y="0"/>
          <a:chExt cx="0" cy="0"/>
        </a:xfrm>
      </p:grpSpPr>
      <p:cxnSp>
        <p:nvCxnSpPr>
          <p:cNvPr id="44" name="Google Shape;44;p15"/>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5" name="Google Shape;45;p15"/>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46" name="Google Shape;46;p1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cxnSp>
        <p:nvCxnSpPr>
          <p:cNvPr id="48" name="Google Shape;48;p16"/>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49" name="Google Shape;49;p16"/>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0" name="Google Shape;50;p16"/>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51" name="Google Shape;51;p1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cxnSp>
        <p:nvCxnSpPr>
          <p:cNvPr id="53" name="Google Shape;53;p17"/>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4" name="Google Shape;54;p17"/>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55" name="Google Shape;55;p17"/>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56" name="Google Shape;56;p17"/>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7" name="Google Shape;57;p1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7" name="Google Shape;7;p8"/>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1600"/>
              </a:spcBef>
              <a:spcAft>
                <a:spcPts val="160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800"/>
              <a:buNone/>
            </a:pPr>
            <a:r>
              <a:rPr lang="en-IN"/>
              <a:t>Drone Phenology Monitoring</a:t>
            </a:r>
            <a:endParaRPr/>
          </a:p>
        </p:txBody>
      </p:sp>
      <p:sp>
        <p:nvSpPr>
          <p:cNvPr id="65" name="Google Shape;65;p1"/>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lang="en-IN"/>
              <a:t>Gaurav Rajput</a:t>
            </a:r>
            <a:endParaRPr/>
          </a:p>
          <a:p>
            <a:pPr indent="0" lvl="0" marL="0" rtl="0" algn="l">
              <a:lnSpc>
                <a:spcPct val="100000"/>
              </a:lnSpc>
              <a:spcBef>
                <a:spcPts val="0"/>
              </a:spcBef>
              <a:spcAft>
                <a:spcPts val="0"/>
              </a:spcAft>
              <a:buSzPts val="1800"/>
              <a:buNone/>
            </a:pPr>
            <a:r>
              <a:rPr lang="en-IN"/>
              <a:t>Parth Thakur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txBox="1"/>
          <p:nvPr>
            <p:ph type="title"/>
          </p:nvPr>
        </p:nvSpPr>
        <p:spPr>
          <a:xfrm>
            <a:off x="265500" y="1912650"/>
            <a:ext cx="4045200" cy="1318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IN"/>
              <a:t>Objective</a:t>
            </a:r>
            <a:endParaRPr/>
          </a:p>
        </p:txBody>
      </p:sp>
      <p:sp>
        <p:nvSpPr>
          <p:cNvPr id="71" name="Google Shape;71;p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Char char="●"/>
            </a:pPr>
            <a:r>
              <a:rPr lang="en-IN" sz="1600"/>
              <a:t>Tracking individual tree crowns across multiple drone orthomosaics (time points) using a graph-based approach</a:t>
            </a:r>
            <a:endParaRPr sz="1600"/>
          </a:p>
          <a:p>
            <a:pPr indent="-330200" lvl="0" marL="457200" rtl="0" algn="l">
              <a:lnSpc>
                <a:spcPct val="115000"/>
              </a:lnSpc>
              <a:spcBef>
                <a:spcPts val="0"/>
              </a:spcBef>
              <a:spcAft>
                <a:spcPts val="0"/>
              </a:spcAft>
              <a:buSzPts val="1600"/>
              <a:buChar char="●"/>
            </a:pPr>
            <a:r>
              <a:rPr lang="en-IN" sz="1600"/>
              <a:t>Temporal monitoring of trees, including handling complex events such as splits, merges, appearances, disappearances, and ambiguous cases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72f6346d0c_0_2"/>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Blocker: Ubuntu on Workstation</a:t>
            </a:r>
            <a:endParaRPr/>
          </a:p>
        </p:txBody>
      </p:sp>
      <p:sp>
        <p:nvSpPr>
          <p:cNvPr id="77" name="Google Shape;77;g372f6346d0c_0_2"/>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To connect our system with the workstation, we use SSH. For SSH to work, the Ubuntu app on the workstation must be running. Additionally, we need to configure the port and establish the connection via the terminal. However, for the past week, the Ubuntu app hasn't been starting at all. Although it did start temporarily once, it's no longer working not even temporarily. To resolve this issue, Raman Sir’s intervention is required, he is also trying to correct this issue but he has not got any success yet.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72f6346d0c_0_8"/>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Major Cases</a:t>
            </a:r>
            <a:endParaRPr/>
          </a:p>
        </p:txBody>
      </p:sp>
      <p:sp>
        <p:nvSpPr>
          <p:cNvPr id="83" name="Google Shape;83;g372f6346d0c_0_8"/>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rgbClr val="1F2328"/>
              </a:buClr>
              <a:buSzPts val="1500"/>
              <a:buFont typeface="Arial"/>
              <a:buChar char="●"/>
            </a:pPr>
            <a:r>
              <a:rPr b="1" lang="en-IN" sz="1500">
                <a:solidFill>
                  <a:srgbClr val="1F2328"/>
                </a:solidFill>
                <a:highlight>
                  <a:srgbClr val="FFFFFF"/>
                </a:highlight>
                <a:latin typeface="Arial"/>
                <a:ea typeface="Arial"/>
                <a:cs typeface="Arial"/>
                <a:sym typeface="Arial"/>
              </a:rPr>
              <a:t>1-to-1 match</a:t>
            </a:r>
            <a:r>
              <a:rPr lang="en-IN" sz="1500">
                <a:solidFill>
                  <a:srgbClr val="1F2328"/>
                </a:solidFill>
                <a:highlight>
                  <a:srgbClr val="FFFFFF"/>
                </a:highlight>
                <a:latin typeface="Arial"/>
                <a:ea typeface="Arial"/>
                <a:cs typeface="Arial"/>
                <a:sym typeface="Arial"/>
              </a:rPr>
              <a:t>: A tree is detected in both orthomosaics.</a:t>
            </a:r>
            <a:endParaRPr sz="1500">
              <a:solidFill>
                <a:srgbClr val="1F2328"/>
              </a:solidFill>
              <a:highlight>
                <a:srgbClr val="FFFFFF"/>
              </a:highlight>
              <a:latin typeface="Arial"/>
              <a:ea typeface="Arial"/>
              <a:cs typeface="Arial"/>
              <a:sym typeface="Arial"/>
            </a:endParaRPr>
          </a:p>
          <a:p>
            <a:pPr indent="-323850" lvl="0" marL="457200" rtl="0" algn="l">
              <a:spcBef>
                <a:spcPts val="0"/>
              </a:spcBef>
              <a:spcAft>
                <a:spcPts val="0"/>
              </a:spcAft>
              <a:buClr>
                <a:srgbClr val="1F2328"/>
              </a:buClr>
              <a:buSzPts val="1500"/>
              <a:buFont typeface="Arial"/>
              <a:buChar char="●"/>
            </a:pPr>
            <a:r>
              <a:rPr b="1" lang="en-IN" sz="1500">
                <a:solidFill>
                  <a:srgbClr val="1F2328"/>
                </a:solidFill>
                <a:highlight>
                  <a:srgbClr val="FFFFFF"/>
                </a:highlight>
                <a:latin typeface="Arial"/>
                <a:ea typeface="Arial"/>
                <a:cs typeface="Arial"/>
                <a:sym typeface="Arial"/>
              </a:rPr>
              <a:t>1-to-many split</a:t>
            </a:r>
            <a:r>
              <a:rPr lang="en-IN" sz="1500">
                <a:solidFill>
                  <a:srgbClr val="1F2328"/>
                </a:solidFill>
                <a:highlight>
                  <a:srgbClr val="FFFFFF"/>
                </a:highlight>
                <a:latin typeface="Arial"/>
                <a:ea typeface="Arial"/>
                <a:cs typeface="Arial"/>
                <a:sym typeface="Arial"/>
              </a:rPr>
              <a:t>: A tree is detected as one in the first, but as two (or more) in the second.</a:t>
            </a:r>
            <a:endParaRPr sz="1500">
              <a:solidFill>
                <a:srgbClr val="1F2328"/>
              </a:solidFill>
              <a:highlight>
                <a:srgbClr val="FFFFFF"/>
              </a:highlight>
              <a:latin typeface="Arial"/>
              <a:ea typeface="Arial"/>
              <a:cs typeface="Arial"/>
              <a:sym typeface="Arial"/>
            </a:endParaRPr>
          </a:p>
          <a:p>
            <a:pPr indent="-323850" lvl="0" marL="457200" rtl="0" algn="l">
              <a:spcBef>
                <a:spcPts val="0"/>
              </a:spcBef>
              <a:spcAft>
                <a:spcPts val="0"/>
              </a:spcAft>
              <a:buClr>
                <a:srgbClr val="1F2328"/>
              </a:buClr>
              <a:buSzPts val="1500"/>
              <a:buFont typeface="Arial"/>
              <a:buChar char="●"/>
            </a:pPr>
            <a:r>
              <a:rPr b="1" lang="en-IN" sz="1500">
                <a:solidFill>
                  <a:srgbClr val="1F2328"/>
                </a:solidFill>
                <a:highlight>
                  <a:srgbClr val="FFFFFF"/>
                </a:highlight>
                <a:latin typeface="Arial"/>
                <a:ea typeface="Arial"/>
                <a:cs typeface="Arial"/>
                <a:sym typeface="Arial"/>
              </a:rPr>
              <a:t>Many-to-1 merge</a:t>
            </a:r>
            <a:r>
              <a:rPr lang="en-IN" sz="1500">
                <a:solidFill>
                  <a:srgbClr val="1F2328"/>
                </a:solidFill>
                <a:highlight>
                  <a:srgbClr val="FFFFFF"/>
                </a:highlight>
                <a:latin typeface="Arial"/>
                <a:ea typeface="Arial"/>
                <a:cs typeface="Arial"/>
                <a:sym typeface="Arial"/>
              </a:rPr>
              <a:t>: Two (or more) trees in the first are detected as one in the second.</a:t>
            </a:r>
            <a:endParaRPr sz="1500">
              <a:solidFill>
                <a:srgbClr val="1F2328"/>
              </a:solidFill>
              <a:highlight>
                <a:srgbClr val="FFFFFF"/>
              </a:highlight>
              <a:latin typeface="Arial"/>
              <a:ea typeface="Arial"/>
              <a:cs typeface="Arial"/>
              <a:sym typeface="Arial"/>
            </a:endParaRPr>
          </a:p>
          <a:p>
            <a:pPr indent="-323850" lvl="0" marL="457200" rtl="0" algn="l">
              <a:spcBef>
                <a:spcPts val="0"/>
              </a:spcBef>
              <a:spcAft>
                <a:spcPts val="0"/>
              </a:spcAft>
              <a:buClr>
                <a:srgbClr val="1F2328"/>
              </a:buClr>
              <a:buSzPts val="1500"/>
              <a:buFont typeface="Arial"/>
              <a:buChar char="●"/>
            </a:pPr>
            <a:r>
              <a:rPr b="1" lang="en-IN" sz="1500">
                <a:solidFill>
                  <a:srgbClr val="1F2328"/>
                </a:solidFill>
                <a:highlight>
                  <a:srgbClr val="FFFFFF"/>
                </a:highlight>
                <a:latin typeface="Arial"/>
                <a:ea typeface="Arial"/>
                <a:cs typeface="Arial"/>
                <a:sym typeface="Arial"/>
              </a:rPr>
              <a:t>Disappear</a:t>
            </a:r>
            <a:r>
              <a:rPr lang="en-IN" sz="1500">
                <a:solidFill>
                  <a:srgbClr val="1F2328"/>
                </a:solidFill>
                <a:highlight>
                  <a:srgbClr val="FFFFFF"/>
                </a:highlight>
                <a:latin typeface="Arial"/>
                <a:ea typeface="Arial"/>
                <a:cs typeface="Arial"/>
                <a:sym typeface="Arial"/>
              </a:rPr>
              <a:t>: A tree is present in the first, but not detected in the second.</a:t>
            </a:r>
            <a:endParaRPr sz="1500">
              <a:solidFill>
                <a:srgbClr val="1F2328"/>
              </a:solidFill>
              <a:highlight>
                <a:srgbClr val="FFFFFF"/>
              </a:highlight>
              <a:latin typeface="Arial"/>
              <a:ea typeface="Arial"/>
              <a:cs typeface="Arial"/>
              <a:sym typeface="Arial"/>
            </a:endParaRPr>
          </a:p>
          <a:p>
            <a:pPr indent="-323850" lvl="0" marL="457200" rtl="0" algn="l">
              <a:spcBef>
                <a:spcPts val="0"/>
              </a:spcBef>
              <a:spcAft>
                <a:spcPts val="0"/>
              </a:spcAft>
              <a:buClr>
                <a:srgbClr val="1F2328"/>
              </a:buClr>
              <a:buSzPts val="1500"/>
              <a:buFont typeface="Arial"/>
              <a:buChar char="●"/>
            </a:pPr>
            <a:r>
              <a:rPr b="1" lang="en-IN" sz="1500">
                <a:solidFill>
                  <a:srgbClr val="1F2328"/>
                </a:solidFill>
                <a:highlight>
                  <a:srgbClr val="FFFFFF"/>
                </a:highlight>
                <a:latin typeface="Arial"/>
                <a:ea typeface="Arial"/>
                <a:cs typeface="Arial"/>
                <a:sym typeface="Arial"/>
              </a:rPr>
              <a:t>Appear</a:t>
            </a:r>
            <a:r>
              <a:rPr lang="en-IN" sz="1500">
                <a:solidFill>
                  <a:srgbClr val="1F2328"/>
                </a:solidFill>
                <a:highlight>
                  <a:srgbClr val="FFFFFF"/>
                </a:highlight>
                <a:latin typeface="Arial"/>
                <a:ea typeface="Arial"/>
                <a:cs typeface="Arial"/>
                <a:sym typeface="Arial"/>
              </a:rPr>
              <a:t>: A new tree appears in the second, not present in the first.</a:t>
            </a:r>
            <a:endParaRPr sz="1500">
              <a:solidFill>
                <a:srgbClr val="1F2328"/>
              </a:solidFill>
              <a:highlight>
                <a:srgbClr val="FFFFFF"/>
              </a:highlight>
              <a:latin typeface="Arial"/>
              <a:ea typeface="Arial"/>
              <a:cs typeface="Arial"/>
              <a:sym typeface="Arial"/>
            </a:endParaRPr>
          </a:p>
          <a:p>
            <a:pPr indent="-323850" lvl="0" marL="457200" rtl="0" algn="l">
              <a:spcBef>
                <a:spcPts val="0"/>
              </a:spcBef>
              <a:spcAft>
                <a:spcPts val="0"/>
              </a:spcAft>
              <a:buClr>
                <a:srgbClr val="1F2328"/>
              </a:buClr>
              <a:buSzPts val="1500"/>
              <a:buFont typeface="Arial"/>
              <a:buChar char="●"/>
            </a:pPr>
            <a:r>
              <a:rPr b="1" lang="en-IN" sz="1500">
                <a:solidFill>
                  <a:srgbClr val="1F2328"/>
                </a:solidFill>
                <a:highlight>
                  <a:srgbClr val="FFFFFF"/>
                </a:highlight>
                <a:latin typeface="Arial"/>
                <a:ea typeface="Arial"/>
                <a:cs typeface="Arial"/>
                <a:sym typeface="Arial"/>
              </a:rPr>
              <a:t>Ambiguous/overlapping</a:t>
            </a:r>
            <a:r>
              <a:rPr lang="en-IN" sz="1500">
                <a:solidFill>
                  <a:srgbClr val="1F2328"/>
                </a:solidFill>
                <a:highlight>
                  <a:srgbClr val="FFFFFF"/>
                </a:highlight>
                <a:latin typeface="Arial"/>
                <a:ea typeface="Arial"/>
                <a:cs typeface="Arial"/>
                <a:sym typeface="Arial"/>
              </a:rPr>
              <a:t>: Multiple possible matches</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72f6346d0c_0_1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Smaller simulation</a:t>
            </a:r>
            <a:endParaRPr/>
          </a:p>
        </p:txBody>
      </p:sp>
      <p:pic>
        <p:nvPicPr>
          <p:cNvPr id="89" name="Google Shape;89;g372f6346d0c_0_17"/>
          <p:cNvPicPr preferRelativeResize="0"/>
          <p:nvPr/>
        </p:nvPicPr>
        <p:blipFill>
          <a:blip r:embed="rId3">
            <a:alphaModFix/>
          </a:blip>
          <a:stretch>
            <a:fillRect/>
          </a:stretch>
        </p:blipFill>
        <p:spPr>
          <a:xfrm>
            <a:off x="152400" y="1141800"/>
            <a:ext cx="8839204" cy="1087636"/>
          </a:xfrm>
          <a:prstGeom prst="rect">
            <a:avLst/>
          </a:prstGeom>
          <a:noFill/>
          <a:ln>
            <a:noFill/>
          </a:ln>
        </p:spPr>
      </p:pic>
      <p:pic>
        <p:nvPicPr>
          <p:cNvPr id="90" name="Google Shape;90;g372f6346d0c_0_17"/>
          <p:cNvPicPr preferRelativeResize="0"/>
          <p:nvPr/>
        </p:nvPicPr>
        <p:blipFill>
          <a:blip r:embed="rId4">
            <a:alphaModFix/>
          </a:blip>
          <a:stretch>
            <a:fillRect/>
          </a:stretch>
        </p:blipFill>
        <p:spPr>
          <a:xfrm>
            <a:off x="152400" y="2229430"/>
            <a:ext cx="4554624" cy="1300775"/>
          </a:xfrm>
          <a:prstGeom prst="rect">
            <a:avLst/>
          </a:prstGeom>
          <a:noFill/>
          <a:ln>
            <a:noFill/>
          </a:ln>
        </p:spPr>
      </p:pic>
      <p:pic>
        <p:nvPicPr>
          <p:cNvPr id="91" name="Google Shape;91;g372f6346d0c_0_17"/>
          <p:cNvPicPr preferRelativeResize="0"/>
          <p:nvPr/>
        </p:nvPicPr>
        <p:blipFill>
          <a:blip r:embed="rId5">
            <a:alphaModFix/>
          </a:blip>
          <a:stretch>
            <a:fillRect/>
          </a:stretch>
        </p:blipFill>
        <p:spPr>
          <a:xfrm>
            <a:off x="4041175" y="3006100"/>
            <a:ext cx="5328825" cy="1398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72f6346d0c_0_4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72f6346d0c_0_47"/>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8" name="Google Shape;98;g372f6346d0c_0_47"/>
          <p:cNvPicPr preferRelativeResize="0"/>
          <p:nvPr/>
        </p:nvPicPr>
        <p:blipFill>
          <a:blip r:embed="rId3">
            <a:alphaModFix/>
          </a:blip>
          <a:stretch>
            <a:fillRect/>
          </a:stretch>
        </p:blipFill>
        <p:spPr>
          <a:xfrm>
            <a:off x="234844" y="0"/>
            <a:ext cx="8674311"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72f6346d0c_0_2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72f6346d0c_0_2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5" name="Google Shape;105;g372f6346d0c_0_24"/>
          <p:cNvPicPr preferRelativeResize="0"/>
          <p:nvPr/>
        </p:nvPicPr>
        <p:blipFill>
          <a:blip r:embed="rId3">
            <a:alphaModFix/>
          </a:blip>
          <a:stretch>
            <a:fillRect/>
          </a:stretch>
        </p:blipFill>
        <p:spPr>
          <a:xfrm>
            <a:off x="0" y="45656"/>
            <a:ext cx="9144000" cy="50521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72f6346d0c_0_30"/>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72f6346d0c_0_30"/>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g372f6346d0c_0_30"/>
          <p:cNvPicPr preferRelativeResize="0"/>
          <p:nvPr/>
        </p:nvPicPr>
        <p:blipFill>
          <a:blip r:embed="rId3">
            <a:alphaModFix/>
          </a:blip>
          <a:stretch>
            <a:fillRect/>
          </a:stretch>
        </p:blipFill>
        <p:spPr>
          <a:xfrm>
            <a:off x="0" y="87064"/>
            <a:ext cx="9144003" cy="49693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2f6346d0c_0_36"/>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IoU Matrix</a:t>
            </a:r>
            <a:endParaRPr/>
          </a:p>
        </p:txBody>
      </p:sp>
      <p:sp>
        <p:nvSpPr>
          <p:cNvPr id="118" name="Google Shape;118;g372f6346d0c_0_36"/>
          <p:cNvSpPr txBox="1"/>
          <p:nvPr>
            <p:ph idx="1" type="body"/>
          </p:nvPr>
        </p:nvSpPr>
        <p:spPr>
          <a:xfrm>
            <a:off x="4762504" y="1595775"/>
            <a:ext cx="39693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Multiple high values in a row or column indicate splits, merges</a:t>
            </a:r>
            <a:endParaRPr/>
          </a:p>
        </p:txBody>
      </p:sp>
      <p:pic>
        <p:nvPicPr>
          <p:cNvPr id="119" name="Google Shape;119;g372f6346d0c_0_36"/>
          <p:cNvPicPr preferRelativeResize="0"/>
          <p:nvPr/>
        </p:nvPicPr>
        <p:blipFill>
          <a:blip r:embed="rId3">
            <a:alphaModFix/>
          </a:blip>
          <a:stretch>
            <a:fillRect/>
          </a:stretch>
        </p:blipFill>
        <p:spPr>
          <a:xfrm>
            <a:off x="123049" y="1595775"/>
            <a:ext cx="4502476" cy="2737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72f6346d0c_0_53"/>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Back Matching</a:t>
            </a:r>
            <a:endParaRPr/>
          </a:p>
        </p:txBody>
      </p:sp>
      <p:sp>
        <p:nvSpPr>
          <p:cNvPr id="125" name="Google Shape;125;g372f6346d0c_0_53"/>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Current Approach: Only forward edges (e.g., OM1→OM2, OM2→OM3) are allowed, representing temporal progression.</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IN"/>
              <a:t>Back Matching: Also allow edges OM2→OM1, OM3→OM2, and even OM3→OM1, OM1→OM3, etc., so any crown can connect to any other.</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72f6346d0c_0_59"/>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IN"/>
              <a:t>Should we have edges from OM1 to OM3?</a:t>
            </a:r>
            <a:endParaRPr/>
          </a:p>
          <a:p>
            <a:pPr indent="0" lvl="0" marL="0" rtl="0" algn="l">
              <a:spcBef>
                <a:spcPts val="0"/>
              </a:spcBef>
              <a:spcAft>
                <a:spcPts val="0"/>
              </a:spcAft>
              <a:buNone/>
            </a:pPr>
            <a:r>
              <a:t/>
            </a:r>
            <a:endParaRPr/>
          </a:p>
        </p:txBody>
      </p:sp>
      <p:sp>
        <p:nvSpPr>
          <p:cNvPr id="131" name="Google Shape;131;g372f6346d0c_0_59"/>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If a crown is missed in OM2 but appears in OM1 and OM3, back matching could help recover the track by linking OM3 directly to OM1.</a:t>
            </a:r>
            <a:endParaRPr/>
          </a:p>
          <a:p>
            <a:pPr indent="-342900" lvl="0" marL="457200" rtl="0" algn="l">
              <a:spcBef>
                <a:spcPts val="0"/>
              </a:spcBef>
              <a:spcAft>
                <a:spcPts val="0"/>
              </a:spcAft>
              <a:buSzPts val="1800"/>
              <a:buChar char="-"/>
            </a:pPr>
            <a:r>
              <a:rPr lang="en-IN"/>
              <a:t>Cycles in the graph could represent consistent tracks across time</a:t>
            </a:r>
            <a:endParaRPr/>
          </a:p>
          <a:p>
            <a:pPr indent="-342900" lvl="0" marL="457200" rtl="0" algn="l">
              <a:spcBef>
                <a:spcPts val="0"/>
              </a:spcBef>
              <a:spcAft>
                <a:spcPts val="0"/>
              </a:spcAft>
              <a:buSzPts val="1800"/>
              <a:buChar char="-"/>
            </a:pPr>
            <a:r>
              <a:rPr lang="en-IN"/>
              <a:t>If forward matching is ambiguous, backward edges might help disambiguate</a:t>
            </a:r>
            <a:endParaRPr/>
          </a:p>
          <a:p>
            <a:pPr indent="-342900" lvl="0" marL="457200" rtl="0" algn="l">
              <a:spcBef>
                <a:spcPts val="0"/>
              </a:spcBef>
              <a:spcAft>
                <a:spcPts val="0"/>
              </a:spcAft>
              <a:buSzPts val="1800"/>
              <a:buChar char="-"/>
            </a:pPr>
            <a:r>
              <a:rPr lang="en-IN"/>
              <a:t>Allowing backward edges can create cycles that violate causality? Multiple cycles may exist for the same object?</a:t>
            </a:r>
            <a:br>
              <a:rPr lang="en-IN"/>
            </a:b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