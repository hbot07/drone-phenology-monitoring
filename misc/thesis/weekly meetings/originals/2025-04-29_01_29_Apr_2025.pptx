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C807FCB-4E9D-4189-ACAB-4DF5E30EBF73}">
  <a:tblStyle styleId="{DC807FCB-4E9D-4189-ACAB-4DF5E30EBF7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RobotoMono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7" Type="http://schemas.openxmlformats.org/officeDocument/2006/relationships/font" Target="fonts/RobotoMon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a3c8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a3c898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a3c89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10a2d5b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10a2d5b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10a2d5b2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10a2d5b2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10a2d5b2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510a2d5b2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10a2d5b2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10a2d5b2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10a2d5b2b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10a2d5b2b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10a2d5b2b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10a2d5b2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f517d2a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4f517d2a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Drone Phenology Monitoring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Gaurav Rajput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Parth Thakur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79" name="Google Shape;79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Recent progress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500"/>
              <a:t>Classifying into different cases of matching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Handling </a:t>
            </a:r>
            <a:r>
              <a:rPr lang="en" sz="1500"/>
              <a:t>strategy for each case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Hungarian cost metric experimentation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 cases of matching</a:t>
            </a:r>
            <a:endParaRPr/>
          </a:p>
        </p:txBody>
      </p:sp>
      <p:pic>
        <p:nvPicPr>
          <p:cNvPr id="85" name="Google Shape;85;p15" title="output (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4400" y="1211350"/>
            <a:ext cx="7297459" cy="362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1053025" y="575950"/>
            <a:ext cx="766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 cases of matching SIT OM</a:t>
            </a:r>
            <a:endParaRPr/>
          </a:p>
        </p:txBody>
      </p:sp>
      <p:pic>
        <p:nvPicPr>
          <p:cNvPr id="91" name="Google Shape;91;p16" title="output (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3025" y="1211350"/>
            <a:ext cx="7304637" cy="3627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Different cases of matching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7" name="Google Shape;97;p17"/>
          <p:cNvGraphicFramePr/>
          <p:nvPr/>
        </p:nvGraphicFramePr>
        <p:xfrm>
          <a:off x="0" y="110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{DC807FCB-4E9D-4189-ACAB-4DF5E30EBF73}</a:tableStyleId>
              </a:tblPr>
              <a:tblGrid>
                <a:gridCol w="2354425"/>
                <a:gridCol w="6611100"/>
              </a:tblGrid>
              <a:tr h="250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Case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Condition</a:t>
                      </a:r>
                      <a:endParaRPr b="1" sz="1300"/>
                    </a:p>
                  </a:txBody>
                  <a:tcPr marT="91425" marB="91425" marR="91425" marL="91425"/>
                </a:tc>
              </a:tr>
              <a:tr h="404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Exact One-to-One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One base &amp; one target overlap, IoU ≥ 90 % (and any other overlaps IoU &lt; 10 %).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26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One-to-One Partial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One base &amp; one target overlap, threshold &lt; IoU &lt; 90 %, neither contains the other.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404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Containment Base → Target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One base overlaps one target, and </a:t>
                      </a: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base contains (target)</a:t>
                      </a:r>
                      <a:r>
                        <a:rPr lang="en" sz="1300"/>
                        <a:t> (IoU may be low).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404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Containment Target → Base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One base overlaps one target, and </a:t>
                      </a: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target contains (base)</a:t>
                      </a:r>
                      <a:r>
                        <a:rPr lang="en" sz="1300"/>
                        <a:t> </a:t>
                      </a:r>
                      <a:r>
                        <a:rPr lang="en" sz="1300"/>
                        <a:t>(IoU may be low).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26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One-to-Many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One base overlaps ≥ 2 targets, none with IoU ≥ 90 %.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26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Many-to-One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One target overlaps ≥ 2 bases, none with IoU ≥ 90 %.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26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Unmatched Base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Base polygon has zero overlapping targets.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26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Unmatched Target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Target polygon has zero overlapping bases.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8" title="output (10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9100" y="0"/>
            <a:ext cx="370617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" name="Google Shape;107;p19"/>
          <p:cNvGraphicFramePr/>
          <p:nvPr/>
        </p:nvGraphicFramePr>
        <p:xfrm>
          <a:off x="152400" y="9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{DC807FCB-4E9D-4189-ACAB-4DF5E30EBF73}</a:tableStyleId>
              </a:tblPr>
              <a:tblGrid>
                <a:gridCol w="1609725"/>
                <a:gridCol w="74771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Case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ID Assignment Strategy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Exact One-to-One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Assign the same ID to both base and target polygons.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One-to-One Partial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If IoU ≥ 50%, assign the same ID and flag for review. Otherwise give the target a new ID.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Containment Base→Target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Assign the base’s ID to the target polygon. Archive the extra base area for later.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Containment Target→Base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Assign the target’s ID to the base polygon. Archive the extra target area for later.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One-to-Many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Merge the overlapping targets and assign the merged shape the base’s ID. Discard or re-ID small fragments below a noise threshold.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Many-to-One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Split the target by intersecting with each base polygon. Assign each piece the corresponding base’s ID.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Unmatched Base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Keep the base’s ID and mark it as missing in this run. Flag for manual or automated re-detection.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Unmatched Target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Assign a new temporary ID. Promote it to a persistent ID only if it appears in later runs.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multiple detectree runs?</a:t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Diverse Prediction Ensemble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Run the mode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multiple times on each orthomosaic, varying: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Confidence thresholds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Tile sizes or overlap strides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Random seeds, or minor image augmentations (brightness, rotation).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Pool all detections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per date into a “bank” of polygons—this captures both high-confidence consensus crowns and fringe candidates.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Apply Hungarian on the 2 banks from each orthomosaic and do some Post-Match Pruning &amp; Voting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-3" y="1211350"/>
            <a:ext cx="7616100" cy="33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Euclidean distance may incorrectly assign split detections if their centroids are close to the ground truth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Cost=1−IoU(A,B)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can also use a combined hybrid metric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λ*IoU + (1-λ)*centroid_distance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This proved to be better suppose: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IoU = 0.5 → higher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But centroid distance = 15m → way too far to be the same tree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b="1" lang="en" sz="1300">
                <a:latin typeface="Arial"/>
                <a:ea typeface="Arial"/>
                <a:cs typeface="Arial"/>
                <a:sym typeface="Arial"/>
              </a:rPr>
              <a:t>If we use only IoU: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It might pick the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wrong, faraway crown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just because overlap is slightly better.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If you combine IoU + centroid distance: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It correctly favors the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closer, more likely match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even if IoU isn't perfect. That’s why we are getting better results.</a:t>
            </a:r>
            <a:endParaRPr/>
          </a:p>
        </p:txBody>
      </p:sp>
      <p:sp>
        <p:nvSpPr>
          <p:cNvPr id="119" name="Google Shape;119;p2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Metric of Hungarian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