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h49WIGX7wROC84nRUSUdvVbz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b84bfaaec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9b84bfaaec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b84bfaae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b84bfaae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b84bfaa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b84bfaa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baa85335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baa85335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b84bfaaec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b84bfaaec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b84bfaa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b84bfaa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b84bfaaec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b84bfaaec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b84bfaae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b84bfaae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13"/>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13"/>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13"/>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13"/>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4" name="Google Shape;14;p13"/>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6"/>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18" name="Google Shape;18;p16"/>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19" name="Google Shape;19;p1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0" name="Google Shape;20;p16"/>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 name="Google Shape;21;p16"/>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1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 name="Shape 23"/>
        <p:cNvGrpSpPr/>
        <p:nvPr/>
      </p:nvGrpSpPr>
      <p:grpSpPr>
        <a:xfrm>
          <a:off x="0" y="0"/>
          <a:ext cx="0" cy="0"/>
          <a:chOff x="0" y="0"/>
          <a:chExt cx="0" cy="0"/>
        </a:xfrm>
      </p:grpSpPr>
      <p:cxnSp>
        <p:nvCxnSpPr>
          <p:cNvPr id="24" name="Google Shape;24;p2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25" name="Google Shape;25;p2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6" name="Google Shape;26;p20"/>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27" name="Google Shape;27;p2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 name="Shape 28"/>
        <p:cNvGrpSpPr/>
        <p:nvPr/>
      </p:nvGrpSpPr>
      <p:grpSpPr>
        <a:xfrm>
          <a:off x="0" y="0"/>
          <a:ext cx="0" cy="0"/>
          <a:chOff x="0" y="0"/>
          <a:chExt cx="0" cy="0"/>
        </a:xfrm>
      </p:grpSpPr>
      <p:sp>
        <p:nvSpPr>
          <p:cNvPr id="29" name="Google Shape;29;p14"/>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 name="Google Shape;30;p1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1" name="Google Shape;31;p14"/>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32" name="Google Shape;32;p14"/>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1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34" name="Google Shape;34;p1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5" name="Shape 35"/>
        <p:cNvGrpSpPr/>
        <p:nvPr/>
      </p:nvGrpSpPr>
      <p:grpSpPr>
        <a:xfrm>
          <a:off x="0" y="0"/>
          <a:ext cx="0" cy="0"/>
          <a:chOff x="0" y="0"/>
          <a:chExt cx="0" cy="0"/>
        </a:xfrm>
      </p:grpSpPr>
      <p:cxnSp>
        <p:nvCxnSpPr>
          <p:cNvPr id="36" name="Google Shape;36;p15"/>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37" name="Google Shape;37;p15"/>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38" name="Google Shape;38;p15"/>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39" name="Google Shape;39;p1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7"/>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 name="Google Shape;42;p1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cxnSp>
        <p:nvCxnSpPr>
          <p:cNvPr id="44" name="Google Shape;44;p1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5" name="Google Shape;45;p18"/>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p18"/>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7" name="Google Shape;47;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8" name="Shape 48"/>
        <p:cNvGrpSpPr/>
        <p:nvPr/>
      </p:nvGrpSpPr>
      <p:grpSpPr>
        <a:xfrm>
          <a:off x="0" y="0"/>
          <a:ext cx="0" cy="0"/>
          <a:chOff x="0" y="0"/>
          <a:chExt cx="0" cy="0"/>
        </a:xfrm>
      </p:grpSpPr>
      <p:cxnSp>
        <p:nvCxnSpPr>
          <p:cNvPr id="49" name="Google Shape;49;p19"/>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50" name="Google Shape;50;p19"/>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1" name="Google Shape;51;p1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cxnSp>
        <p:nvCxnSpPr>
          <p:cNvPr id="53" name="Google Shape;53;p2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4" name="Google Shape;54;p2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55" name="Google Shape;55;p21"/>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56" name="Google Shape;56;p21"/>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7" name="Google Shape;57;p2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 name="Google Shape;7;p12"/>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160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1600"/>
              </a:spcBef>
              <a:spcAft>
                <a:spcPts val="160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800"/>
              <a:buNone/>
            </a:pPr>
            <a:r>
              <a:rPr lang="en-IN"/>
              <a:t>Drone Phenology Monitoring</a:t>
            </a:r>
            <a:endParaRPr/>
          </a:p>
        </p:txBody>
      </p:sp>
      <p:sp>
        <p:nvSpPr>
          <p:cNvPr id="65" name="Google Shape;65;p1"/>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lang="en-IN"/>
              <a:t>Gaurav Rajput</a:t>
            </a:r>
            <a:endParaRPr/>
          </a:p>
          <a:p>
            <a:pPr indent="0" lvl="0" marL="0" rtl="0" algn="l">
              <a:lnSpc>
                <a:spcPct val="100000"/>
              </a:lnSpc>
              <a:spcBef>
                <a:spcPts val="0"/>
              </a:spcBef>
              <a:spcAft>
                <a:spcPts val="0"/>
              </a:spcAft>
              <a:buSzPts val="1800"/>
              <a:buNone/>
            </a:pPr>
            <a:r>
              <a:rPr lang="en-IN"/>
              <a:t>Parth Thakur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9b84bfaaec_1_26"/>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Previous Progress</a:t>
            </a:r>
            <a:endParaRPr/>
          </a:p>
        </p:txBody>
      </p:sp>
      <p:sp>
        <p:nvSpPr>
          <p:cNvPr id="71" name="Google Shape;71;g39b84bfaaec_1_26"/>
          <p:cNvSpPr txBox="1"/>
          <p:nvPr>
            <p:ph idx="1" type="body"/>
          </p:nvPr>
        </p:nvSpPr>
        <p:spPr>
          <a:xfrm>
            <a:off x="2400262" y="1149251"/>
            <a:ext cx="63216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Conditional threshold based matching</a:t>
            </a:r>
            <a:endParaRPr/>
          </a:p>
          <a:p>
            <a:pPr indent="-342900" lvl="0" marL="457200" rtl="0" algn="l">
              <a:spcBef>
                <a:spcPts val="0"/>
              </a:spcBef>
              <a:spcAft>
                <a:spcPts val="0"/>
              </a:spcAft>
              <a:buSzPts val="1800"/>
              <a:buChar char="-"/>
            </a:pPr>
            <a:r>
              <a:rPr lang="en-IN"/>
              <a:t>Classification of edges into different cases</a:t>
            </a:r>
            <a:endParaRPr/>
          </a:p>
          <a:p>
            <a:pPr indent="-342900" lvl="0" marL="457200" rtl="0" algn="l">
              <a:spcBef>
                <a:spcPts val="0"/>
              </a:spcBef>
              <a:spcAft>
                <a:spcPts val="0"/>
              </a:spcAft>
              <a:buSzPts val="1800"/>
              <a:buChar char="-"/>
            </a:pPr>
            <a:r>
              <a:rPr lang="en-IN"/>
              <a:t>We noticed that the tracking graph had less nodes </a:t>
            </a:r>
            <a:r>
              <a:rPr lang="en-IN"/>
              <a:t>initially</a:t>
            </a:r>
            <a:r>
              <a:rPr lang="en-IN"/>
              <a:t> and more in later orthomosaics</a:t>
            </a:r>
            <a:endParaRPr/>
          </a:p>
        </p:txBody>
      </p:sp>
      <p:pic>
        <p:nvPicPr>
          <p:cNvPr id="72" name="Google Shape;72;g39b84bfaaec_1_26"/>
          <p:cNvPicPr preferRelativeResize="0"/>
          <p:nvPr/>
        </p:nvPicPr>
        <p:blipFill>
          <a:blip r:embed="rId3">
            <a:alphaModFix/>
          </a:blip>
          <a:stretch>
            <a:fillRect/>
          </a:stretch>
        </p:blipFill>
        <p:spPr>
          <a:xfrm>
            <a:off x="0" y="2531825"/>
            <a:ext cx="3028574" cy="2611676"/>
          </a:xfrm>
          <a:prstGeom prst="rect">
            <a:avLst/>
          </a:prstGeom>
          <a:noFill/>
          <a:ln>
            <a:noFill/>
          </a:ln>
        </p:spPr>
      </p:pic>
      <p:pic>
        <p:nvPicPr>
          <p:cNvPr id="73" name="Google Shape;73;g39b84bfaaec_1_26"/>
          <p:cNvPicPr preferRelativeResize="0"/>
          <p:nvPr/>
        </p:nvPicPr>
        <p:blipFill>
          <a:blip r:embed="rId4">
            <a:alphaModFix/>
          </a:blip>
          <a:stretch>
            <a:fillRect/>
          </a:stretch>
        </p:blipFill>
        <p:spPr>
          <a:xfrm>
            <a:off x="5522182" y="2531825"/>
            <a:ext cx="3621816" cy="2611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9b84bfaaec_1_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Shuffle Connectivity</a:t>
            </a:r>
            <a:endParaRPr/>
          </a:p>
        </p:txBody>
      </p:sp>
      <p:sp>
        <p:nvSpPr>
          <p:cNvPr id="79" name="Google Shape;79;g39b84bfaaec_1_5"/>
          <p:cNvSpPr txBox="1"/>
          <p:nvPr>
            <p:ph idx="1" type="body"/>
          </p:nvPr>
        </p:nvSpPr>
        <p:spPr>
          <a:xfrm>
            <a:off x="2400250" y="1211350"/>
            <a:ext cx="6321600" cy="3447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For consecutive orthomosaics, we gather votes from each shuffle </a:t>
            </a:r>
            <a:endParaRPr/>
          </a:p>
          <a:p>
            <a:pPr indent="-342900" lvl="0" marL="457200" rtl="0" algn="l">
              <a:spcBef>
                <a:spcPts val="0"/>
              </a:spcBef>
              <a:spcAft>
                <a:spcPts val="0"/>
              </a:spcAft>
              <a:buSzPts val="1800"/>
              <a:buChar char="-"/>
            </a:pPr>
            <a:r>
              <a:rPr lang="en-IN"/>
              <a:t>If these 2 nodes are connected in a shuffle, vote += 1</a:t>
            </a:r>
            <a:endParaRPr/>
          </a:p>
          <a:p>
            <a:pPr indent="-342900" lvl="0" marL="457200" rtl="0" algn="l">
              <a:spcBef>
                <a:spcPts val="0"/>
              </a:spcBef>
              <a:spcAft>
                <a:spcPts val="0"/>
              </a:spcAft>
              <a:buSzPts val="1800"/>
              <a:buChar char="-"/>
            </a:pPr>
            <a:r>
              <a:rPr lang="en-IN"/>
              <a:t>We select the edge which has the maximum votes</a:t>
            </a:r>
            <a:endParaRPr/>
          </a:p>
          <a:p>
            <a:pPr indent="-342900" lvl="0" marL="457200" rtl="0" algn="l">
              <a:spcBef>
                <a:spcPts val="0"/>
              </a:spcBef>
              <a:spcAft>
                <a:spcPts val="0"/>
              </a:spcAft>
              <a:buSzPts val="1800"/>
              <a:buChar char="-"/>
            </a:pPr>
            <a:r>
              <a:rPr lang="en-IN"/>
              <a:t>Across all the shuffles, we also maintain a list for every node</a:t>
            </a:r>
            <a:endParaRPr/>
          </a:p>
          <a:p>
            <a:pPr indent="-342900" lvl="0" marL="457200" rtl="0" algn="l">
              <a:spcBef>
                <a:spcPts val="0"/>
              </a:spcBef>
              <a:spcAft>
                <a:spcPts val="0"/>
              </a:spcAft>
              <a:buSzPts val="1800"/>
              <a:buChar char="-"/>
            </a:pPr>
            <a:r>
              <a:rPr lang="en-IN"/>
              <a:t>This list contains all the nodes this nodes is connected to</a:t>
            </a:r>
            <a:endParaRPr/>
          </a:p>
          <a:p>
            <a:pPr indent="-342900" lvl="0" marL="457200" rtl="0" algn="l">
              <a:spcBef>
                <a:spcPts val="0"/>
              </a:spcBef>
              <a:spcAft>
                <a:spcPts val="0"/>
              </a:spcAft>
              <a:buSzPts val="1800"/>
              <a:buChar char="-"/>
            </a:pPr>
            <a:r>
              <a:rPr lang="en-IN"/>
              <a:t>If there is no edge leaving the current node, we check if this list has any node from the next orthomosaic in the get_tracking() function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b84bfaaec_1_0"/>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Rotational Shuffles</a:t>
            </a:r>
            <a:endParaRPr/>
          </a:p>
        </p:txBody>
      </p:sp>
      <p:sp>
        <p:nvSpPr>
          <p:cNvPr id="85" name="Google Shape;85;g39b84bfaaec_1_0"/>
          <p:cNvSpPr txBox="1"/>
          <p:nvPr>
            <p:ph idx="1" type="body"/>
          </p:nvPr>
        </p:nvSpPr>
        <p:spPr>
          <a:xfrm>
            <a:off x="2400262" y="1294851"/>
            <a:ext cx="63216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We run the conditional matching algorithm on all the rotational shuffles of the orthomosaics</a:t>
            </a:r>
            <a:endParaRPr/>
          </a:p>
          <a:p>
            <a:pPr indent="-342900" lvl="0" marL="457200" rtl="0" algn="l">
              <a:spcBef>
                <a:spcPts val="0"/>
              </a:spcBef>
              <a:spcAft>
                <a:spcPts val="0"/>
              </a:spcAft>
              <a:buSzPts val="1800"/>
              <a:buChar char="-"/>
            </a:pPr>
            <a:r>
              <a:rPr lang="en-IN"/>
              <a:t>Eg: 1-2-3-4, 4-1-2-3, 3-4-1-2, 2-3-4-1</a:t>
            </a:r>
            <a:endParaRPr/>
          </a:p>
          <a:p>
            <a:pPr indent="-342900" lvl="0" marL="457200" rtl="0" algn="l">
              <a:spcBef>
                <a:spcPts val="0"/>
              </a:spcBef>
              <a:spcAft>
                <a:spcPts val="0"/>
              </a:spcAft>
              <a:buSzPts val="1800"/>
              <a:buChar char="-"/>
            </a:pPr>
            <a:r>
              <a:rPr lang="en-IN"/>
              <a:t>get_chains(): get a list of the chains that tree is a part of in all of the shuffles</a:t>
            </a:r>
            <a:endParaRPr/>
          </a:p>
          <a:p>
            <a:pPr indent="-342900" lvl="0" marL="457200" rtl="0" algn="l">
              <a:spcBef>
                <a:spcPts val="0"/>
              </a:spcBef>
              <a:spcAft>
                <a:spcPts val="0"/>
              </a:spcAft>
              <a:buSzPts val="1800"/>
              <a:buChar char="-"/>
            </a:pPr>
            <a:r>
              <a:rPr lang="en-IN"/>
              <a:t>We select the longest chain out of these, and sort according to time at which the orthomosaic was taken to get the matching chain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9baa853351_1_0"/>
          <p:cNvSpPr txBox="1"/>
          <p:nvPr>
            <p:ph type="title"/>
          </p:nvPr>
        </p:nvSpPr>
        <p:spPr>
          <a:xfrm>
            <a:off x="1354275" y="56022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Problem</a:t>
            </a:r>
            <a:endParaRPr/>
          </a:p>
        </p:txBody>
      </p:sp>
      <p:sp>
        <p:nvSpPr>
          <p:cNvPr id="91" name="Google Shape;91;g39baa853351_1_0"/>
          <p:cNvSpPr txBox="1"/>
          <p:nvPr>
            <p:ph idx="1" type="body"/>
          </p:nvPr>
        </p:nvSpPr>
        <p:spPr>
          <a:xfrm>
            <a:off x="1171823" y="1070550"/>
            <a:ext cx="7394700" cy="3663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The results are not better than as shown:</a:t>
            </a:r>
            <a:endParaRPr/>
          </a:p>
          <a:p>
            <a:pPr indent="-342900" lvl="0" marL="457200" rtl="0" algn="l">
              <a:spcBef>
                <a:spcPts val="0"/>
              </a:spcBef>
              <a:spcAft>
                <a:spcPts val="0"/>
              </a:spcAft>
              <a:buSzPts val="1800"/>
              <a:buChar char="-"/>
            </a:pPr>
            <a:r>
              <a:rPr lang="en-IN" sz="1050">
                <a:latin typeface="Courier New"/>
                <a:ea typeface="Courier New"/>
                <a:cs typeface="Courier New"/>
                <a:sym typeface="Courier New"/>
              </a:rPr>
              <a:t>Match Rates by Orthomosaic Pair:</a:t>
            </a:r>
            <a:endParaRPr sz="1050">
              <a:latin typeface="Courier New"/>
              <a:ea typeface="Courier New"/>
              <a:cs typeface="Courier New"/>
              <a:sym typeface="Courier New"/>
            </a:endParaRPr>
          </a:p>
          <a:p>
            <a:pPr indent="-349250" lvl="0" marL="457200" rtl="0" algn="l">
              <a:spcBef>
                <a:spcPts val="0"/>
              </a:spcBef>
              <a:spcAft>
                <a:spcPts val="0"/>
              </a:spcAft>
              <a:buSzPts val="1900"/>
              <a:buChar char="-"/>
            </a:pPr>
            <a:r>
              <a:rPr b="1" lang="en-IN" sz="1150">
                <a:latin typeface="Courier New"/>
                <a:ea typeface="Courier New"/>
                <a:cs typeface="Courier New"/>
                <a:sym typeface="Courier New"/>
              </a:rPr>
              <a:t>- 5-&gt;3: 12/130 (0.092)           </a:t>
            </a:r>
            <a:endParaRPr b="1" sz="1150">
              <a:latin typeface="Courier New"/>
              <a:ea typeface="Courier New"/>
              <a:cs typeface="Courier New"/>
              <a:sym typeface="Courier New"/>
            </a:endParaRPr>
          </a:p>
          <a:p>
            <a:pPr indent="-349250" lvl="0" marL="457200" rtl="0" algn="l">
              <a:spcBef>
                <a:spcPts val="0"/>
              </a:spcBef>
              <a:spcAft>
                <a:spcPts val="0"/>
              </a:spcAft>
              <a:buSzPts val="1900"/>
              <a:buChar char="-"/>
            </a:pPr>
            <a:r>
              <a:rPr b="1" lang="en-IN" sz="1150">
                <a:latin typeface="Courier New"/>
                <a:ea typeface="Courier New"/>
                <a:cs typeface="Courier New"/>
                <a:sym typeface="Courier New"/>
              </a:rPr>
              <a:t>- 3-&gt;2: 11/116 (0.095)</a:t>
            </a:r>
            <a:endParaRPr b="1" sz="1150">
              <a:latin typeface="Courier New"/>
              <a:ea typeface="Courier New"/>
              <a:cs typeface="Courier New"/>
              <a:sym typeface="Courier New"/>
            </a:endParaRPr>
          </a:p>
          <a:p>
            <a:pPr indent="-349250" lvl="0" marL="457200" rtl="0" algn="l">
              <a:spcBef>
                <a:spcPts val="0"/>
              </a:spcBef>
              <a:spcAft>
                <a:spcPts val="0"/>
              </a:spcAft>
              <a:buSzPts val="1900"/>
              <a:buChar char="-"/>
            </a:pPr>
            <a:r>
              <a:rPr b="1" lang="en-IN" sz="1150">
                <a:latin typeface="Courier New"/>
                <a:ea typeface="Courier New"/>
                <a:cs typeface="Courier New"/>
                <a:sym typeface="Courier New"/>
              </a:rPr>
              <a:t>- 2-&gt;4: 14/116 (0.121)</a:t>
            </a:r>
            <a:endParaRPr b="1" sz="1150">
              <a:latin typeface="Courier New"/>
              <a:ea typeface="Courier New"/>
              <a:cs typeface="Courier New"/>
              <a:sym typeface="Courier New"/>
            </a:endParaRPr>
          </a:p>
          <a:p>
            <a:pPr indent="-342900" lvl="0" marL="457200" rtl="0" algn="l">
              <a:spcBef>
                <a:spcPts val="0"/>
              </a:spcBef>
              <a:spcAft>
                <a:spcPts val="0"/>
              </a:spcAft>
              <a:buSzPts val="1800"/>
              <a:buChar char="-"/>
            </a:pPr>
            <a:r>
              <a:rPr b="1" lang="en-IN" sz="1150">
                <a:latin typeface="Courier New"/>
                <a:ea typeface="Courier New"/>
                <a:cs typeface="Courier New"/>
                <a:sym typeface="Courier New"/>
              </a:rPr>
              <a:t>- 4-&gt;1: 9/80 (0.113)</a:t>
            </a:r>
            <a:br>
              <a:rPr lang="en-IN"/>
            </a:br>
            <a:endParaRPr/>
          </a:p>
        </p:txBody>
      </p:sp>
      <p:pic>
        <p:nvPicPr>
          <p:cNvPr id="92" name="Google Shape;92;g39baa853351_1_0" title="imgppt.jpeg"/>
          <p:cNvPicPr preferRelativeResize="0"/>
          <p:nvPr/>
        </p:nvPicPr>
        <p:blipFill>
          <a:blip r:embed="rId3">
            <a:alphaModFix/>
          </a:blip>
          <a:stretch>
            <a:fillRect/>
          </a:stretch>
        </p:blipFill>
        <p:spPr>
          <a:xfrm>
            <a:off x="6291750" y="3059375"/>
            <a:ext cx="2618950" cy="1765775"/>
          </a:xfrm>
          <a:prstGeom prst="rect">
            <a:avLst/>
          </a:prstGeom>
          <a:noFill/>
          <a:ln>
            <a:noFill/>
          </a:ln>
        </p:spPr>
      </p:pic>
      <p:sp>
        <p:nvSpPr>
          <p:cNvPr id="93" name="Google Shape;93;g39baa853351_1_0"/>
          <p:cNvSpPr txBox="1"/>
          <p:nvPr/>
        </p:nvSpPr>
        <p:spPr>
          <a:xfrm>
            <a:off x="3948075" y="3334625"/>
            <a:ext cx="2296500" cy="7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1800">
                <a:solidFill>
                  <a:schemeClr val="dk2"/>
                </a:solidFill>
                <a:latin typeface="Lato"/>
                <a:ea typeface="Lato"/>
                <a:cs typeface="Lato"/>
                <a:sym typeface="Lato"/>
              </a:rPr>
              <a:t>Sorted orthomosaic results—&gt;</a:t>
            </a:r>
            <a:endParaRPr sz="1800">
              <a:solidFill>
                <a:schemeClr val="dk2"/>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9b84bfaaec_1_11"/>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contd.</a:t>
            </a:r>
            <a:endParaRPr/>
          </a:p>
        </p:txBody>
      </p:sp>
      <p:sp>
        <p:nvSpPr>
          <p:cNvPr id="99" name="Google Shape;99;g39b84bfaaec_1_11"/>
          <p:cNvSpPr txBox="1"/>
          <p:nvPr>
            <p:ph idx="1" type="body"/>
          </p:nvPr>
        </p:nvSpPr>
        <p:spPr>
          <a:xfrm>
            <a:off x="2400250" y="1245775"/>
            <a:ext cx="6321600" cy="33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IN" sz="1050">
                <a:latin typeface="Courier New"/>
                <a:ea typeface="Courier New"/>
                <a:cs typeface="Courier New"/>
                <a:sym typeface="Courier New"/>
              </a:rPr>
              <a:t>Average diameter: 0.021</a:t>
            </a:r>
            <a:endParaRPr b="1" sz="1050">
              <a:latin typeface="Courier New"/>
              <a:ea typeface="Courier New"/>
              <a:cs typeface="Courier New"/>
              <a:sym typeface="Courier New"/>
            </a:endParaRPr>
          </a:p>
          <a:p>
            <a:pPr indent="0" lvl="0" marL="0" rtl="0" algn="l">
              <a:spcBef>
                <a:spcPts val="0"/>
              </a:spcBef>
              <a:spcAft>
                <a:spcPts val="0"/>
              </a:spcAft>
              <a:buNone/>
            </a:pPr>
            <a:r>
              <a:rPr b="1" lang="en-IN" sz="1050">
                <a:latin typeface="Courier New"/>
                <a:ea typeface="Courier New"/>
                <a:cs typeface="Courier New"/>
                <a:sym typeface="Courier New"/>
              </a:rPr>
              <a:t>Median diameter: 0.000</a:t>
            </a:r>
            <a:endParaRPr b="1" sz="1050">
              <a:latin typeface="Courier New"/>
              <a:ea typeface="Courier New"/>
              <a:cs typeface="Courier New"/>
              <a:sym typeface="Courier New"/>
            </a:endParaRPr>
          </a:p>
          <a:p>
            <a:pPr indent="0" lvl="0" marL="0" rtl="0" algn="l">
              <a:spcBef>
                <a:spcPts val="0"/>
              </a:spcBef>
              <a:spcAft>
                <a:spcPts val="0"/>
              </a:spcAft>
              <a:buNone/>
            </a:pPr>
            <a:r>
              <a:rPr b="1" lang="en-IN" sz="1050">
                <a:latin typeface="Courier New"/>
                <a:ea typeface="Courier New"/>
                <a:cs typeface="Courier New"/>
                <a:sym typeface="Courier New"/>
              </a:rPr>
              <a:t>Max diameter: 1</a:t>
            </a:r>
            <a:endParaRPr b="1" sz="1050">
              <a:latin typeface="Courier New"/>
              <a:ea typeface="Courier New"/>
              <a:cs typeface="Courier New"/>
              <a:sym typeface="Courier New"/>
            </a:endParaRPr>
          </a:p>
          <a:p>
            <a:pPr indent="0" lvl="0" marL="0" rtl="0" algn="l">
              <a:spcBef>
                <a:spcPts val="0"/>
              </a:spcBef>
              <a:spcAft>
                <a:spcPts val="0"/>
              </a:spcAft>
              <a:buNone/>
            </a:pPr>
            <a:r>
              <a:t/>
            </a:r>
            <a:endParaRPr b="1" sz="1050">
              <a:latin typeface="Courier New"/>
              <a:ea typeface="Courier New"/>
              <a:cs typeface="Courier New"/>
              <a:sym typeface="Courier New"/>
            </a:endParaRPr>
          </a:p>
          <a:p>
            <a:pPr indent="0" lvl="0" marL="0" rtl="0" algn="l">
              <a:spcBef>
                <a:spcPts val="0"/>
              </a:spcBef>
              <a:spcAft>
                <a:spcPts val="0"/>
              </a:spcAft>
              <a:buNone/>
            </a:pPr>
            <a:r>
              <a:t/>
            </a:r>
            <a:endParaRPr b="1" sz="105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IN" sz="1050">
                <a:latin typeface="Courier New"/>
                <a:ea typeface="Courier New"/>
                <a:cs typeface="Courier New"/>
                <a:sym typeface="Courier New"/>
              </a:rPr>
              <a:t>Total Trees Detected: 626</a:t>
            </a:r>
            <a:endParaRPr b="1" sz="105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IN" sz="1050">
                <a:latin typeface="Courier New"/>
                <a:ea typeface="Courier New"/>
                <a:cs typeface="Courier New"/>
                <a:sym typeface="Courier New"/>
              </a:rPr>
              <a:t>Total Tracking Edges: 13</a:t>
            </a:r>
            <a:endParaRPr b="1" sz="105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IN" sz="1050">
                <a:latin typeface="Courier New"/>
                <a:ea typeface="Courier New"/>
                <a:cs typeface="Courier New"/>
                <a:sym typeface="Courier New"/>
              </a:rPr>
              <a:t>Overall Match Rate: 0.029</a:t>
            </a:r>
            <a:endParaRPr b="1" sz="105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IN" sz="1050">
                <a:latin typeface="Courier New"/>
                <a:ea typeface="Courier New"/>
                <a:cs typeface="Courier New"/>
                <a:sym typeface="Courier New"/>
              </a:rPr>
              <a:t>Average Chain Length: 1.02</a:t>
            </a:r>
            <a:endParaRPr b="1" sz="1050">
              <a:latin typeface="Courier New"/>
              <a:ea typeface="Courier New"/>
              <a:cs typeface="Courier New"/>
              <a:sym typeface="Courier New"/>
            </a:endParaRPr>
          </a:p>
          <a:p>
            <a:pPr indent="0" lvl="0" marL="0" rtl="0" algn="l">
              <a:spcBef>
                <a:spcPts val="0"/>
              </a:spcBef>
              <a:spcAft>
                <a:spcPts val="0"/>
              </a:spcAft>
              <a:buNone/>
            </a:pPr>
            <a:r>
              <a:rPr b="1" lang="en-IN" sz="1050">
                <a:latin typeface="Courier New"/>
                <a:ea typeface="Courier New"/>
                <a:cs typeface="Courier New"/>
                <a:sym typeface="Courier New"/>
              </a:rPr>
              <a:t>Maximum Chain Length: 2</a:t>
            </a:r>
            <a:endParaRPr b="1" sz="1050">
              <a:latin typeface="Courier New"/>
              <a:ea typeface="Courier New"/>
              <a:cs typeface="Courier New"/>
              <a:sym typeface="Courier New"/>
            </a:endParaRPr>
          </a:p>
          <a:p>
            <a:pPr indent="0" lvl="0" marL="0" rtl="0" algn="l">
              <a:spcBef>
                <a:spcPts val="0"/>
              </a:spcBef>
              <a:spcAft>
                <a:spcPts val="0"/>
              </a:spcAft>
              <a:buNone/>
            </a:pPr>
            <a:r>
              <a:t/>
            </a:r>
            <a:endParaRPr b="1" sz="1050">
              <a:latin typeface="Courier New"/>
              <a:ea typeface="Courier New"/>
              <a:cs typeface="Courier New"/>
              <a:sym typeface="Courier New"/>
            </a:endParaRPr>
          </a:p>
          <a:p>
            <a:pPr indent="0" lvl="0" marL="0" rtl="0" algn="l">
              <a:spcBef>
                <a:spcPts val="0"/>
              </a:spcBef>
              <a:spcAft>
                <a:spcPts val="0"/>
              </a:spcAft>
              <a:buClr>
                <a:schemeClr val="dk2"/>
              </a:buClr>
              <a:buSzPts val="1100"/>
              <a:buFont typeface="Arial"/>
              <a:buNone/>
            </a:pPr>
            <a:r>
              <a:rPr b="1" lang="en-IN" sz="1050">
                <a:latin typeface="Courier New"/>
                <a:ea typeface="Courier New"/>
                <a:cs typeface="Courier New"/>
                <a:sym typeface="Courier New"/>
              </a:rPr>
              <a:t>These results are quite poor as you can see, the maximum chain length we’re getting is only 2, and in some shuffled cases it reached 3, but never went up to 4 in any of the runs</a:t>
            </a:r>
            <a:endParaRPr b="1" sz="1050">
              <a:latin typeface="Courier New"/>
              <a:ea typeface="Courier New"/>
              <a:cs typeface="Courier New"/>
              <a:sym typeface="Courier New"/>
            </a:endParaRPr>
          </a:p>
        </p:txBody>
      </p:sp>
      <p:pic>
        <p:nvPicPr>
          <p:cNvPr id="100" name="Google Shape;100;g39b84bfaaec_1_11" title="pptimg.jpeg"/>
          <p:cNvPicPr preferRelativeResize="0"/>
          <p:nvPr/>
        </p:nvPicPr>
        <p:blipFill>
          <a:blip r:embed="rId3">
            <a:alphaModFix/>
          </a:blip>
          <a:stretch>
            <a:fillRect/>
          </a:stretch>
        </p:blipFill>
        <p:spPr>
          <a:xfrm>
            <a:off x="6464125" y="1245775"/>
            <a:ext cx="2257725" cy="1561925"/>
          </a:xfrm>
          <a:prstGeom prst="rect">
            <a:avLst/>
          </a:prstGeom>
          <a:noFill/>
          <a:ln>
            <a:noFill/>
          </a:ln>
        </p:spPr>
      </p:pic>
      <p:sp>
        <p:nvSpPr>
          <p:cNvPr id="101" name="Google Shape;101;g39b84bfaaec_1_11"/>
          <p:cNvSpPr txBox="1"/>
          <p:nvPr/>
        </p:nvSpPr>
        <p:spPr>
          <a:xfrm>
            <a:off x="4577250" y="2044825"/>
            <a:ext cx="1895400" cy="5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sp>
        <p:nvSpPr>
          <p:cNvPr id="102" name="Google Shape;102;g39b84bfaaec_1_11"/>
          <p:cNvSpPr txBox="1"/>
          <p:nvPr/>
        </p:nvSpPr>
        <p:spPr>
          <a:xfrm>
            <a:off x="4474950" y="1245775"/>
            <a:ext cx="1997700" cy="6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IN" sz="1500">
                <a:solidFill>
                  <a:schemeClr val="dk2"/>
                </a:solidFill>
                <a:latin typeface="Lato"/>
                <a:ea typeface="Lato"/>
                <a:cs typeface="Lato"/>
                <a:sym typeface="Lato"/>
              </a:rPr>
              <a:t>Sorted orthomosaic results—&gt;</a:t>
            </a:r>
            <a:endParaRPr sz="1500">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9b84bfaaec_0_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Virtual Edges</a:t>
            </a:r>
            <a:endParaRPr/>
          </a:p>
        </p:txBody>
      </p:sp>
      <p:sp>
        <p:nvSpPr>
          <p:cNvPr id="108" name="Google Shape;108;g39b84bfaaec_0_5"/>
          <p:cNvSpPr txBox="1"/>
          <p:nvPr>
            <p:ph idx="1" type="body"/>
          </p:nvPr>
        </p:nvSpPr>
        <p:spPr>
          <a:xfrm>
            <a:off x="2400250" y="1148200"/>
            <a:ext cx="6321600" cy="346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These are edges </a:t>
            </a:r>
            <a:r>
              <a:rPr lang="en-IN"/>
              <a:t>between</a:t>
            </a:r>
            <a:r>
              <a:rPr lang="en-IN"/>
              <a:t> any two pairs of orthomosaics, they do not need to be consecutive</a:t>
            </a:r>
            <a:endParaRPr/>
          </a:p>
          <a:p>
            <a:pPr indent="-342900" lvl="0" marL="457200" rtl="0" algn="l">
              <a:spcBef>
                <a:spcPts val="0"/>
              </a:spcBef>
              <a:spcAft>
                <a:spcPts val="0"/>
              </a:spcAft>
              <a:buSzPts val="1800"/>
              <a:buChar char="-"/>
            </a:pPr>
            <a:r>
              <a:rPr lang="en-IN"/>
              <a:t>We iterate over the orthomosaics, and compare each new orthomosaic which all of the previous ones we have</a:t>
            </a:r>
            <a:endParaRPr/>
          </a:p>
          <a:p>
            <a:pPr indent="-342900" lvl="0" marL="457200" rtl="0" algn="l">
              <a:spcBef>
                <a:spcPts val="0"/>
              </a:spcBef>
              <a:spcAft>
                <a:spcPts val="0"/>
              </a:spcAft>
              <a:buSzPts val="1800"/>
              <a:buChar char="-"/>
            </a:pPr>
            <a:r>
              <a:rPr lang="en-IN"/>
              <a:t>We use the same conditional matching approach as earlier for creating virtual edges as well</a:t>
            </a:r>
            <a:endParaRPr/>
          </a:p>
          <a:p>
            <a:pPr indent="-342900" lvl="0" marL="457200" rtl="0" algn="l">
              <a:spcBef>
                <a:spcPts val="0"/>
              </a:spcBef>
              <a:spcAft>
                <a:spcPts val="0"/>
              </a:spcAft>
              <a:buSzPts val="1800"/>
              <a:buChar char="-"/>
            </a:pPr>
            <a:r>
              <a:rPr lang="en-IN"/>
              <a:t>If there is no edge leaving a node, we see if the node has a outgoing virtual edge connecting it to a node.</a:t>
            </a:r>
            <a:endParaRPr/>
          </a:p>
          <a:p>
            <a:pPr indent="-342900" lvl="0" marL="457200" rtl="0" algn="l">
              <a:spcBef>
                <a:spcPts val="0"/>
              </a:spcBef>
              <a:spcAft>
                <a:spcPts val="0"/>
              </a:spcAft>
              <a:buSzPts val="1800"/>
              <a:buChar char="-"/>
            </a:pPr>
            <a:r>
              <a:rPr lang="en-IN"/>
              <a:t>In get_tracking() we see the ancestors of this node(with both virtual and real edges) and select the chain greedily based on similarity scores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9b84bfaaec_1_33"/>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Problem</a:t>
            </a:r>
            <a:endParaRPr/>
          </a:p>
        </p:txBody>
      </p:sp>
      <p:sp>
        <p:nvSpPr>
          <p:cNvPr id="114" name="Google Shape;114;g39b84bfaaec_1_33"/>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IN"/>
              <a:t>We are getting wrong matches as the errors propagate</a:t>
            </a:r>
            <a:endParaRPr/>
          </a:p>
          <a:p>
            <a:pPr indent="-342900" lvl="0" marL="457200" rtl="0" algn="l">
              <a:spcBef>
                <a:spcPts val="0"/>
              </a:spcBef>
              <a:spcAft>
                <a:spcPts val="0"/>
              </a:spcAft>
              <a:buSzPts val="1800"/>
              <a:buChar char="-"/>
            </a:pPr>
            <a:r>
              <a:rPr lang="en-IN"/>
              <a:t>We see that this algorithm produces chains with edges between nodes that have similarity scores lower than our set threshold</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9b84bfaaec_1_16"/>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IN"/>
              <a:t>Future Ideas</a:t>
            </a:r>
            <a:endParaRPr/>
          </a:p>
        </p:txBody>
      </p:sp>
      <p:sp>
        <p:nvSpPr>
          <p:cNvPr id="120" name="Google Shape;120;g39b84bfaaec_1_16"/>
          <p:cNvSpPr txBox="1"/>
          <p:nvPr>
            <p:ph idx="1" type="body"/>
          </p:nvPr>
        </p:nvSpPr>
        <p:spPr>
          <a:xfrm>
            <a:off x="2400262" y="125602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IN"/>
              <a:t>Fix the matching algorithm to a simpler, high confidence only matches, and </a:t>
            </a:r>
            <a:r>
              <a:rPr lang="en-IN"/>
              <a:t>instead</a:t>
            </a:r>
            <a:r>
              <a:rPr lang="en-IN"/>
              <a:t> tune detectree2 parameters specific to each orthomosaic to have similar number of detected crowns across all orthomosaics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