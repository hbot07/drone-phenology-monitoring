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jkwoAtk64uGdNa1m5UBU0YfpUn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3AE2F9-3BD6-4A34-9050-26888BC5FAFC}">
  <a:tblStyle styleId="{403AE2F9-3BD6-4A34-9050-26888BC5FAF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aleway-regular.fntdata"/><Relationship Id="rId14" Type="http://schemas.openxmlformats.org/officeDocument/2006/relationships/slide" Target="slides/slide8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0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0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0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1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1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12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2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2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1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3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1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1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5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15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6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p17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1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18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18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18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/>
              <a:t>Drone Phenology Monitoring</a:t>
            </a:r>
            <a:endParaRPr/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Gaurav Rajput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IN"/>
              <a:t>Objective</a:t>
            </a:r>
            <a:endParaRPr/>
          </a:p>
        </p:txBody>
      </p:sp>
      <p:sp>
        <p:nvSpPr>
          <p:cNvPr id="71" name="Google Shape;71;p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sz="1600"/>
              <a:t>Align tree crowns from two orthomosaic-derived crowns (OM3 → OM4), resolve missing crowns, and identify geometric mismatches.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Workflow Steps</a:t>
            </a:r>
            <a:endParaRPr/>
          </a:p>
        </p:txBody>
      </p:sp>
      <p:sp>
        <p:nvSpPr>
          <p:cNvPr id="77" name="Google Shape;77;p3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-IN" sz="1400"/>
              <a:t>CRS Unification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1400"/>
              <a:t>Reprojected both OM3 and OM4 crowns to match the CRS of the raster image sit_om4.tif.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-IN" sz="1400"/>
              <a:t> Affine Alignment (OM3 → OM4)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1400"/>
              <a:t>Matched crowns via </a:t>
            </a:r>
            <a:r>
              <a:rPr b="1" lang="en-IN" sz="1400"/>
              <a:t>nearest neighbor centroid search</a:t>
            </a:r>
            <a:r>
              <a:rPr lang="en-IN" sz="1400"/>
              <a:t> (within 10 meters).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1400"/>
              <a:t>Computed </a:t>
            </a:r>
            <a:r>
              <a:rPr b="1" lang="en-IN" sz="1400"/>
              <a:t>rigid affine transform</a:t>
            </a:r>
            <a:r>
              <a:rPr lang="en-IN" sz="1400"/>
              <a:t> (scale + rotation + translation).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1400"/>
              <a:t>Applied it to OM3 → significantly improved spatial match.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-IN" sz="1400"/>
              <a:t>IoU improved from ~30% → ~72%</a:t>
            </a:r>
            <a:br>
              <a:rPr lang="en-IN" sz="1400"/>
            </a:br>
            <a:r>
              <a:rPr lang="en-IN" sz="1400"/>
              <a:t> Transformed OM3 saved as: crowns3_aligned.gpkg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type="title"/>
          </p:nvPr>
        </p:nvSpPr>
        <p:spPr>
          <a:xfrm>
            <a:off x="0" y="65100"/>
            <a:ext cx="45720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Crown Completion Logic</a:t>
            </a:r>
            <a:endParaRPr/>
          </a:p>
        </p:txBody>
      </p:sp>
      <p:sp>
        <p:nvSpPr>
          <p:cNvPr id="84" name="Google Shape;84;p4"/>
          <p:cNvSpPr txBox="1"/>
          <p:nvPr>
            <p:ph idx="1" type="subTitle"/>
          </p:nvPr>
        </p:nvSpPr>
        <p:spPr>
          <a:xfrm>
            <a:off x="6318828" y="165907"/>
            <a:ext cx="731196" cy="41930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IN"/>
              <a:t>A).</a:t>
            </a:r>
            <a:endParaRPr/>
          </a:p>
        </p:txBody>
      </p:sp>
      <p:sp>
        <p:nvSpPr>
          <p:cNvPr id="85" name="Google Shape;85;p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-IN" sz="1400"/>
              <a:t>  Handle Completely Missing Crowns (IoU = 0)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IN" sz="1400"/>
              <a:t>OM3-only crowns</a:t>
            </a:r>
            <a:r>
              <a:rPr lang="en-IN" sz="1400"/>
              <a:t> (not found in OM4) were </a:t>
            </a:r>
            <a:r>
              <a:rPr b="1" lang="en-IN" sz="1400"/>
              <a:t>copied to OM4</a:t>
            </a:r>
            <a:r>
              <a:rPr lang="en-IN" sz="1400"/>
              <a:t> (origin = "from_om3")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IN" sz="1400"/>
              <a:t>OM4-only crowns</a:t>
            </a:r>
            <a:r>
              <a:rPr lang="en-IN" sz="1400"/>
              <a:t> were similarly </a:t>
            </a:r>
            <a:r>
              <a:rPr b="1" lang="en-IN" sz="1400"/>
              <a:t>added to OM3</a:t>
            </a:r>
            <a:r>
              <a:rPr lang="en-IN" sz="1400"/>
              <a:t> (origin = "from_om4")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 sz="1400"/>
              <a:t> </a:t>
            </a:r>
            <a:r>
              <a:rPr b="1" lang="en-IN" sz="1400"/>
              <a:t>Inverse affine transform</a:t>
            </a:r>
            <a:r>
              <a:rPr lang="en-IN" sz="1400"/>
              <a:t> applied to OM4 crowns when transferring to OM3</a:t>
            </a:r>
            <a:br>
              <a:rPr lang="en-IN" sz="1400"/>
            </a:br>
            <a:r>
              <a:rPr lang="en-IN" sz="1400"/>
              <a:t>→ Ensures alignment correctness after full transformation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sz="1400"/>
          </a:p>
        </p:txBody>
      </p:sp>
      <p:pic>
        <p:nvPicPr>
          <p:cNvPr descr="A blue line in a green field&#10;&#10;Description automatically generated"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2" y="2351024"/>
            <a:ext cx="1853438" cy="1650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red circle&#10;&#10;Description automatically generated"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3359" y="2324454"/>
            <a:ext cx="1853438" cy="167571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944217" y="1729409"/>
            <a:ext cx="2564296" cy="595045"/>
          </a:xfrm>
          <a:prstGeom prst="uturnArrow">
            <a:avLst>
              <a:gd fmla="val 9967" name="adj1"/>
              <a:gd fmla="val 25000" name="adj2"/>
              <a:gd fmla="val 31681" name="adj3"/>
              <a:gd fmla="val 43750" name="adj4"/>
              <a:gd fmla="val 96714" name="adj5"/>
            </a:avLst>
          </a:prstGeom>
          <a:solidFill>
            <a:schemeClr val="accent1"/>
          </a:solidFill>
          <a:ln cap="flat" cmpd="sng" w="25400">
            <a:solidFill>
              <a:srgbClr val="002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155772" y="281782"/>
            <a:ext cx="43065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Crown Completion Logic</a:t>
            </a:r>
            <a:endParaRPr/>
          </a:p>
        </p:txBody>
      </p:sp>
      <p:sp>
        <p:nvSpPr>
          <p:cNvPr id="94" name="Google Shape;94;p5"/>
          <p:cNvSpPr txBox="1"/>
          <p:nvPr>
            <p:ph idx="1" type="subTitle"/>
          </p:nvPr>
        </p:nvSpPr>
        <p:spPr>
          <a:xfrm>
            <a:off x="6506118" y="204089"/>
            <a:ext cx="703764" cy="4741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IN"/>
              <a:t>B.)</a:t>
            </a:r>
            <a:endParaRPr/>
          </a:p>
        </p:txBody>
      </p:sp>
      <p:sp>
        <p:nvSpPr>
          <p:cNvPr id="95" name="Google Shape;95;p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-IN" sz="1400"/>
              <a:t> Partial Mismatches (IoU &lt; 63%) —&gt; A−B / B−A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1400"/>
              <a:t>Computed crown difference geometries: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IN"/>
              <a:t>OM3 crown − OM4 crown → added to OM4 as "om3_diff"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IN"/>
              <a:t>OM4 crown − OM3 crown → added to OM3 as "om4_diff"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 sz="1400"/>
              <a:t>These are visualized as </a:t>
            </a:r>
            <a:r>
              <a:rPr b="1" lang="en-IN" sz="1400"/>
              <a:t>yellow and purple-outlined polygons</a:t>
            </a:r>
            <a:r>
              <a:rPr lang="en-IN" sz="1400"/>
              <a:t> in the plot</a:t>
            </a:r>
            <a:br>
              <a:rPr lang="en-IN" sz="1400"/>
            </a:br>
            <a:r>
              <a:rPr lang="en-IN" sz="1400"/>
              <a:t> Highlights </a:t>
            </a:r>
            <a:r>
              <a:rPr b="1" lang="en-IN" sz="1400"/>
              <a:t>incomplete overlaps</a:t>
            </a:r>
            <a:r>
              <a:rPr lang="en-IN" sz="1400"/>
              <a:t> or </a:t>
            </a:r>
            <a:r>
              <a:rPr b="1" lang="en-IN" sz="1400"/>
              <a:t>shape shifts</a:t>
            </a:r>
            <a:r>
              <a:rPr lang="en-IN" sz="1400"/>
              <a:t> between datasets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sz="1400"/>
          </a:p>
        </p:txBody>
      </p:sp>
      <p:pic>
        <p:nvPicPr>
          <p:cNvPr descr="A blue circle with red circle in center&#10;&#10;Description automatically generated"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773" y="2527829"/>
            <a:ext cx="1813838" cy="166012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 txBox="1"/>
          <p:nvPr/>
        </p:nvSpPr>
        <p:spPr>
          <a:xfrm>
            <a:off x="2623608" y="1824578"/>
            <a:ext cx="5669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A-B</a:t>
            </a:r>
            <a:endParaRPr/>
          </a:p>
        </p:txBody>
      </p:sp>
      <p:sp>
        <p:nvSpPr>
          <p:cNvPr id="98" name="Google Shape;98;p5"/>
          <p:cNvSpPr txBox="1"/>
          <p:nvPr/>
        </p:nvSpPr>
        <p:spPr>
          <a:xfrm>
            <a:off x="3617392" y="1790539"/>
            <a:ext cx="5494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B-A</a:t>
            </a:r>
            <a:endParaRPr/>
          </a:p>
        </p:txBody>
      </p:sp>
      <p:pic>
        <p:nvPicPr>
          <p:cNvPr descr="A colorful hat with a black stripe&#10;&#10;Description automatically generated with medium confidence" id="99" name="Google Shape;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6838" y="2527829"/>
            <a:ext cx="1813837" cy="1665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5"/>
          <p:cNvCxnSpPr>
            <a:endCxn id="97" idx="2"/>
          </p:cNvCxnSpPr>
          <p:nvPr/>
        </p:nvCxnSpPr>
        <p:spPr>
          <a:xfrm rot="-5400000">
            <a:off x="2420622" y="2524605"/>
            <a:ext cx="878700" cy="94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549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" name="Google Shape;101;p5"/>
          <p:cNvCxnSpPr>
            <a:endCxn id="98" idx="2"/>
          </p:cNvCxnSpPr>
          <p:nvPr/>
        </p:nvCxnSpPr>
        <p:spPr>
          <a:xfrm rot="-5400000">
            <a:off x="3263632" y="2542016"/>
            <a:ext cx="1072200" cy="184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00549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title"/>
          </p:nvPr>
        </p:nvSpPr>
        <p:spPr>
          <a:xfrm>
            <a:off x="2487168" y="345790"/>
            <a:ext cx="45720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>
                <a:solidFill>
                  <a:schemeClr val="dk2"/>
                </a:solidFill>
              </a:rPr>
              <a:t>Summary of Results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107" name="Google Shape;107;p6"/>
          <p:cNvGraphicFramePr/>
          <p:nvPr/>
        </p:nvGraphicFramePr>
        <p:xfrm>
          <a:off x="1411288" y="19200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{403AE2F9-3BD6-4A34-9050-26888BC5FAFC}</a:tableStyleId>
              </a:tblPr>
              <a:tblGrid>
                <a:gridCol w="3160700"/>
                <a:gridCol w="31607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2"/>
                          </a:solidFill>
                        </a:rPr>
                        <a:t>Aspect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2"/>
                          </a:solidFill>
                        </a:rPr>
                        <a:t>Outcome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2"/>
                          </a:solidFill>
                        </a:rPr>
                        <a:t>Initial Average IoU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2"/>
                          </a:solidFill>
                        </a:rPr>
                        <a:t>~30%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2"/>
                          </a:solidFill>
                        </a:rPr>
                        <a:t>Post-Alignment Best IoU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2"/>
                          </a:solidFill>
                        </a:rPr>
                        <a:t>~72.99%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2"/>
                          </a:solidFill>
                        </a:rPr>
                        <a:t>IoU Threshold for Diff Detection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2"/>
                          </a:solidFill>
                        </a:rPr>
                        <a:t>63% (relative scale)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2"/>
                          </a:solidFill>
                        </a:rPr>
                        <a:t>Crown Transfers (IoU = 0)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2"/>
                          </a:solidFill>
                        </a:rPr>
                        <a:t> Applied (w/ inverse affine)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2"/>
                          </a:solidFill>
                        </a:rPr>
                        <a:t>Difference Masks (A−B / B−A)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2"/>
                          </a:solidFill>
                        </a:rPr>
                        <a:t> Visualized and Saved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/>
              <a:t>Impact</a:t>
            </a:r>
            <a:endParaRPr/>
          </a:p>
        </p:txBody>
      </p:sp>
      <p:sp>
        <p:nvSpPr>
          <p:cNvPr id="113" name="Google Shape;113;p7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 sz="1400"/>
              <a:t>Developed an automated framework to: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1400"/>
              <a:t>Align and merge crown datasets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1400"/>
              <a:t>Address missing &amp; misaligned regions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1400"/>
              <a:t>Visually identify crown mismatches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I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