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64" r:id="rId5"/>
    <p:sldId id="265" r:id="rId6"/>
    <p:sldId id="266" r:id="rId7"/>
    <p:sldId id="262" r:id="rId8"/>
  </p:sldIdLst>
  <p:sldSz cx="9144000" cy="5143500" type="screen16x9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Raleway" pitchFamily="2" charset="77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8E1FF3-05A2-42A6-8123-1A199361CE0D}">
  <a:tblStyle styleId="{2C8E1FF3-05A2-42A6-8123-1A199361CE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4698"/>
  </p:normalViewPr>
  <p:slideViewPr>
    <p:cSldViewPr snapToGrid="0">
      <p:cViewPr varScale="1">
        <p:scale>
          <a:sx n="124" d="100"/>
          <a:sy n="124" d="100"/>
        </p:scale>
        <p:origin x="176" y="5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Phenology Monitoring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Gaurav Rajput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Objective</a:t>
            </a:r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1600" dirty="0"/>
              <a:t>Given two sets of crown polygons (OM3 and OM4)</a:t>
            </a:r>
          </a:p>
          <a:p>
            <a:r>
              <a:rPr lang="en-IN" sz="1600" dirty="0"/>
              <a:t>OM3 is misaligned with respect to OM4</a:t>
            </a:r>
          </a:p>
          <a:p>
            <a:r>
              <a:rPr lang="en-IN" sz="1600" dirty="0"/>
              <a:t>Goal: Affinely align OM3 to OM4 to maximize overlap (</a:t>
            </a:r>
            <a:r>
              <a:rPr lang="en-IN" sz="1600" dirty="0" err="1"/>
              <a:t>IoU</a:t>
            </a:r>
            <a:r>
              <a:rPr lang="en-IN" sz="1600" dirty="0"/>
              <a:t>)</a:t>
            </a:r>
          </a:p>
          <a:p>
            <a:r>
              <a:rPr lang="en-IN" sz="1600" dirty="0"/>
              <a:t>Calculate A-B and B-A but with constraint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BDC5-02CB-5FC2-0106-BADD7E89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99" y="92532"/>
            <a:ext cx="4045200" cy="1318200"/>
          </a:xfrm>
        </p:spPr>
        <p:txBody>
          <a:bodyPr/>
          <a:lstStyle/>
          <a:p>
            <a:r>
              <a:rPr lang="en-IN" dirty="0"/>
              <a:t>Crown Matching &amp; Merging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9CA21-2FE5-2B07-4B83-B01898C95F6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3302" y="0"/>
            <a:ext cx="3837000" cy="3695100"/>
          </a:xfrm>
        </p:spPr>
        <p:txBody>
          <a:bodyPr/>
          <a:lstStyle/>
          <a:p>
            <a:r>
              <a:rPr lang="en-IN" dirty="0"/>
              <a:t>Crowns from OM3 and OM4 were compared using an </a:t>
            </a:r>
            <a:r>
              <a:rPr lang="en-IN" b="1" dirty="0" err="1"/>
              <a:t>IoU</a:t>
            </a:r>
            <a:r>
              <a:rPr lang="en-IN" b="1" dirty="0"/>
              <a:t> threshold of 0.7</a:t>
            </a:r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IoU</a:t>
            </a:r>
            <a:r>
              <a:rPr lang="en-IN" dirty="0"/>
              <a:t>(OM3[</a:t>
            </a:r>
            <a:r>
              <a:rPr lang="en-IN" dirty="0" err="1"/>
              <a:t>i</a:t>
            </a:r>
            <a:r>
              <a:rPr lang="en-IN" dirty="0"/>
              <a:t>], OM4[j]) &gt; 0.7 → crowns were merged via geometric union</a:t>
            </a:r>
          </a:p>
          <a:p>
            <a:r>
              <a:rPr lang="en-IN" dirty="0"/>
              <a:t>The merged geometry </a:t>
            </a:r>
            <a:r>
              <a:rPr lang="en-IN" b="1" dirty="0"/>
              <a:t>replaced</a:t>
            </a:r>
            <a:r>
              <a:rPr lang="en-IN" dirty="0"/>
              <a:t> the original crowns in both OM3 and OM4</a:t>
            </a:r>
          </a:p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03C0741-03D0-405C-7D2B-0F57AC08D27C}"/>
              </a:ext>
            </a:extLst>
          </p:cNvPr>
          <p:cNvSpPr txBox="1">
            <a:spLocks/>
          </p:cNvSpPr>
          <p:nvPr/>
        </p:nvSpPr>
        <p:spPr>
          <a:xfrm>
            <a:off x="265499" y="1410732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IN"/>
              <a:t>Merging Crowns Based on IoU</a:t>
            </a:r>
            <a:endParaRPr lang="en-US" dirty="0"/>
          </a:p>
        </p:txBody>
      </p:sp>
      <p:pic>
        <p:nvPicPr>
          <p:cNvPr id="7" name="Picture 6" descr="A blue line around trees&#10;&#10;Description automatically generated">
            <a:extLst>
              <a:ext uri="{FF2B5EF4-FFF2-40B4-BE49-F238E27FC236}">
                <a16:creationId xmlns:a16="http://schemas.microsoft.com/office/drawing/2014/main" id="{8F517AC2-45F1-5A1E-ABDF-63CA92CB8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914" y="2785590"/>
            <a:ext cx="2423001" cy="2323426"/>
          </a:xfrm>
          <a:prstGeom prst="rect">
            <a:avLst/>
          </a:prstGeom>
        </p:spPr>
      </p:pic>
      <p:pic>
        <p:nvPicPr>
          <p:cNvPr id="9" name="Picture 8" descr="A blue and red line around trees&#10;&#10;Description automatically generated">
            <a:extLst>
              <a:ext uri="{FF2B5EF4-FFF2-40B4-BE49-F238E27FC236}">
                <a16:creationId xmlns:a16="http://schemas.microsoft.com/office/drawing/2014/main" id="{463D6E97-0131-A26C-DB32-5A7145C9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" y="2733844"/>
            <a:ext cx="2423000" cy="2324770"/>
          </a:xfrm>
          <a:prstGeom prst="rect">
            <a:avLst/>
          </a:prstGeom>
        </p:spPr>
      </p:pic>
      <p:sp>
        <p:nvSpPr>
          <p:cNvPr id="10" name="Curved Down Arrow 9">
            <a:extLst>
              <a:ext uri="{FF2B5EF4-FFF2-40B4-BE49-F238E27FC236}">
                <a16:creationId xmlns:a16="http://schemas.microsoft.com/office/drawing/2014/main" id="{BDA849F7-8484-05E3-0CAE-E9D447B44C18}"/>
              </a:ext>
            </a:extLst>
          </p:cNvPr>
          <p:cNvSpPr/>
          <p:nvPr/>
        </p:nvSpPr>
        <p:spPr>
          <a:xfrm>
            <a:off x="1869897" y="2311685"/>
            <a:ext cx="1571946" cy="41724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683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18E2-B9A0-810F-1EA3-884E46AE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0157"/>
            <a:ext cx="4572000" cy="1652921"/>
          </a:xfrm>
        </p:spPr>
        <p:txBody>
          <a:bodyPr/>
          <a:lstStyle/>
          <a:p>
            <a:r>
              <a:rPr lang="en-IN" dirty="0"/>
              <a:t>A−B and B−A Difference Computation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D976A-2C7D-6612-2219-C3A3E2652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990069"/>
            <a:ext cx="4571999" cy="836636"/>
          </a:xfrm>
        </p:spPr>
        <p:txBody>
          <a:bodyPr/>
          <a:lstStyle/>
          <a:p>
            <a:r>
              <a:rPr lang="en-IN" dirty="0"/>
              <a:t>Difference Analysis with Area Constraint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E95DA-DDE2-1530-748A-41608BE4346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If an OM3 crown is </a:t>
            </a:r>
            <a:r>
              <a:rPr lang="en-IN" b="1" dirty="0"/>
              <a:t>larger</a:t>
            </a:r>
            <a:r>
              <a:rPr lang="en-IN" dirty="0"/>
              <a:t> than the overlapping OM4 crowns → it's likely OM4 is missing some parts → show </a:t>
            </a:r>
            <a:r>
              <a:rPr lang="en-IN" b="1" dirty="0"/>
              <a:t>A−B</a:t>
            </a:r>
            <a:r>
              <a:rPr lang="en-IN" dirty="0"/>
              <a:t>.</a:t>
            </a:r>
          </a:p>
          <a:p>
            <a:r>
              <a:rPr lang="en-IN" dirty="0"/>
              <a:t>If the union of OM4 overlaps is </a:t>
            </a:r>
            <a:r>
              <a:rPr lang="en-IN" b="1" dirty="0"/>
              <a:t>larger</a:t>
            </a:r>
            <a:r>
              <a:rPr lang="en-IN" dirty="0"/>
              <a:t>, maybe OM4 overestimated → show </a:t>
            </a:r>
            <a:r>
              <a:rPr lang="en-IN" b="1" dirty="0"/>
              <a:t>B−A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93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01A4-1446-0C17-E77B-7E2B429FB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7350"/>
            <a:ext cx="4572000" cy="1318200"/>
          </a:xfrm>
        </p:spPr>
        <p:txBody>
          <a:bodyPr/>
          <a:lstStyle/>
          <a:p>
            <a:r>
              <a:rPr lang="en-IN" dirty="0"/>
              <a:t>Restoring Unmatched Crowns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084B1-5C7E-D8B0-6D12-CDBA511860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Handling Crowns with </a:t>
            </a:r>
            <a:r>
              <a:rPr lang="en-IN" dirty="0" err="1"/>
              <a:t>IoU</a:t>
            </a:r>
            <a:r>
              <a:rPr lang="en-IN" dirty="0"/>
              <a:t> ≈ 0 (Unmatched)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364A9-3595-0D60-9729-C7A7D3F5DAB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After merging, some crowns exist in only one of the scenes</a:t>
            </a:r>
          </a:p>
          <a:p>
            <a:r>
              <a:rPr lang="en-IN" dirty="0"/>
              <a:t>These were </a:t>
            </a:r>
            <a:r>
              <a:rPr lang="en-IN" b="1" dirty="0"/>
              <a:t>duplicated</a:t>
            </a:r>
            <a:r>
              <a:rPr lang="en-IN" dirty="0"/>
              <a:t> into the other crown set to preserve all trees</a:t>
            </a:r>
          </a:p>
          <a:p>
            <a:r>
              <a:rPr lang="en-IN" dirty="0"/>
              <a:t>Ensures </a:t>
            </a:r>
            <a:r>
              <a:rPr lang="en-IN" b="1" dirty="0"/>
              <a:t>full crown set is preserved</a:t>
            </a:r>
            <a:r>
              <a:rPr lang="en-IN" dirty="0"/>
              <a:t>, even for unmatched crowns.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1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4092-6145-206C-B1F8-9AC9629F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0642" y="0"/>
            <a:ext cx="4777483" cy="1705510"/>
          </a:xfrm>
        </p:spPr>
        <p:txBody>
          <a:bodyPr/>
          <a:lstStyle/>
          <a:p>
            <a:r>
              <a:rPr lang="en-IN" b="1" dirty="0"/>
              <a:t>Challenge in Multi-Temporal Alignment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4B11C-B867-2D3F-E8FB-9536793DA3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2B945-9DBF-776E-7BFB-3503AEA1F0F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114161" y="1032425"/>
            <a:ext cx="3837000" cy="3695100"/>
          </a:xfrm>
        </p:spPr>
        <p:txBody>
          <a:bodyPr/>
          <a:lstStyle/>
          <a:p>
            <a:r>
              <a:rPr lang="en-IN" sz="1600" b="1" dirty="0"/>
              <a:t> What I Did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 aligned </a:t>
            </a:r>
            <a:r>
              <a:rPr lang="en-IN" sz="1600" b="1" dirty="0"/>
              <a:t>OM4 crowns</a:t>
            </a:r>
            <a:r>
              <a:rPr lang="en-IN" sz="1600" dirty="0"/>
              <a:t> to </a:t>
            </a:r>
            <a:r>
              <a:rPr lang="en-IN" sz="1600" b="1" dirty="0"/>
              <a:t>OM3</a:t>
            </a:r>
            <a:r>
              <a:rPr lang="en-IN" sz="1600" dirty="0"/>
              <a:t> (reference) using a translation/affine transformation.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Then tried aligning </a:t>
            </a:r>
            <a:r>
              <a:rPr lang="en-IN" sz="1600" b="1" dirty="0"/>
              <a:t>OM5</a:t>
            </a:r>
            <a:r>
              <a:rPr lang="en-IN" sz="1600" dirty="0"/>
              <a:t> to the already-aligned </a:t>
            </a:r>
            <a:r>
              <a:rPr lang="en-IN" sz="1600" b="1" dirty="0"/>
              <a:t>OM4</a:t>
            </a:r>
            <a:r>
              <a:rPr lang="en-IN" sz="1600" dirty="0"/>
              <a:t> crowns.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What Went Wrong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OM4 is no longer in its original coordinate system.</a:t>
            </a:r>
            <a:br>
              <a:rPr lang="en-IN" sz="1600" dirty="0"/>
            </a:br>
            <a:r>
              <a:rPr lang="en-IN" sz="1600" dirty="0"/>
              <a:t>It was shifted to match OM3.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OM5 crowns (in their native space)</a:t>
            </a:r>
            <a:r>
              <a:rPr lang="en-IN" sz="1600" dirty="0"/>
              <a:t> now try to align to </a:t>
            </a:r>
            <a:r>
              <a:rPr lang="en-IN" sz="1600" b="1" dirty="0"/>
              <a:t>transformed OM4</a:t>
            </a:r>
            <a:r>
              <a:rPr lang="en-IN" sz="1600" dirty="0"/>
              <a:t>,</a:t>
            </a:r>
            <a:br>
              <a:rPr lang="en-IN" sz="1600" dirty="0"/>
            </a:br>
            <a:r>
              <a:rPr lang="en-IN" sz="1600" dirty="0"/>
              <a:t>which </a:t>
            </a:r>
            <a:r>
              <a:rPr lang="en-IN" sz="1600" b="1" dirty="0"/>
              <a:t>introduces spatial inconsistencies</a:t>
            </a:r>
            <a:r>
              <a:rPr lang="en-IN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b="1" dirty="0"/>
          </a:p>
          <a:p>
            <a:endParaRPr lang="en-US" sz="1600" dirty="0"/>
          </a:p>
        </p:txBody>
      </p:sp>
      <p:pic>
        <p:nvPicPr>
          <p:cNvPr id="6" name="Picture 5" descr="A whiteboard with writing on it&#10;&#10;Description automatically generated">
            <a:extLst>
              <a:ext uri="{FF2B5EF4-FFF2-40B4-BE49-F238E27FC236}">
                <a16:creationId xmlns:a16="http://schemas.microsoft.com/office/drawing/2014/main" id="{E1A93B34-B8CD-DA02-71C8-1B83B0624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9" y="1062629"/>
            <a:ext cx="4045200" cy="411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1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3990-911F-1EDD-AB3E-ECC6C172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C4086-A539-B33C-81F1-3D090A94AE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D73C3-2E3C-8880-6128-3670DD042C7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55630952"/>
      </p:ext>
    </p:extLst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285</Words>
  <Application>Microsoft Macintosh PowerPoint</Application>
  <PresentationFormat>On-screen Show (16:9)</PresentationFormat>
  <Paragraphs>31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Lato</vt:lpstr>
      <vt:lpstr>Arial</vt:lpstr>
      <vt:lpstr>Raleway</vt:lpstr>
      <vt:lpstr>Swiss</vt:lpstr>
      <vt:lpstr>Drone Phenology Monitoring</vt:lpstr>
      <vt:lpstr>Objective</vt:lpstr>
      <vt:lpstr>Crown Matching &amp; Merging</vt:lpstr>
      <vt:lpstr>A−B and B−A Difference Computation</vt:lpstr>
      <vt:lpstr>Restoring Unmatched Crowns</vt:lpstr>
      <vt:lpstr>Challenge in Multi-Temporal Alignment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Gaurav Rajput</cp:lastModifiedBy>
  <cp:revision>10</cp:revision>
  <dcterms:modified xsi:type="dcterms:W3CDTF">2025-07-15T07:49:23Z</dcterms:modified>
</cp:coreProperties>
</file>